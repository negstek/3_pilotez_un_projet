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5"/>
    <p:sldMasterId id="214748366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5143500" cx="9144000"/>
  <p:notesSz cx="6858000" cy="9144000"/>
  <p:embeddedFontLs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83772D2-D8E0-4E67-9DB2-8791DCAE5FA2}">
  <a:tblStyle styleId="{183772D2-D8E0-4E67-9DB2-8791DCAE5FA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4.xml"/><Relationship Id="rId22" Type="http://schemas.openxmlformats.org/officeDocument/2006/relationships/font" Target="fonts/Roboto-italic.fntdata"/><Relationship Id="rId10" Type="http://schemas.openxmlformats.org/officeDocument/2006/relationships/slide" Target="slides/slide3.xml"/><Relationship Id="rId21" Type="http://schemas.openxmlformats.org/officeDocument/2006/relationships/font" Target="fonts/Roboto-bold.fntdata"/><Relationship Id="rId13" Type="http://schemas.openxmlformats.org/officeDocument/2006/relationships/slide" Target="slides/slide6.xml"/><Relationship Id="rId12" Type="http://schemas.openxmlformats.org/officeDocument/2006/relationships/slide" Target="slides/slide5.xml"/><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h75e1c6096e49e86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h75e1c6096e49e86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h75e1c6096e49e86f_3_1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h75e1c6096e49e86f_3_1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Le besoin métier : transférer un fichier à quelqu’un sans pièce jointe ni compte obligatoire. On dépose le fichier, on reçoit un lien temporaire, le destinataire télécharge. Deux publics : le visiteur, qui dépose et télécharge sans compte, et l’utilisateur connecté, qui retrouve et supprime ses fichiers. Les options de protection : mot de passe sur le fichier et durée de vie du lien, de 1 à 7 jours.</a:t>
            </a:r>
            <a:endParaRPr/>
          </a:p>
        </p:txBody>
      </p:sp>
      <p:sp>
        <p:nvSpPr>
          <p:cNvPr id="68" name="Google Shape;68;h75e1c6096e49e86f_3_1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h75e1c6096e49e86f_3_4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h75e1c6096e49e86f_3_4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Les six user stories du MVP sont livrées et testées. Parmi les quatre optionnelles : l’upload anonyme et le mot de passe de fichier sont livrés, ainsi que le choix de la durée d’expiration. Deux éléments ne sont pas réalisés : les tags, et la purge quotidienne des fichiers expirés. Conséquence assumée et documentée : un lien expiré est refusé, mais le fichier reste sur le disque. C’est un arbitrage : les tests end-to-end, la couverture et la documentation étaient obligatoires, je les ai fait passer avant.</a:t>
            </a:r>
            <a:endParaRPr/>
          </a:p>
        </p:txBody>
      </p:sp>
      <p:sp>
        <p:nvSpPr>
          <p:cNvPr id="99" name="Google Shape;99;h75e1c6096e49e86f_3_4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h75e1c6096e49e86f_3_8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h75e1c6096e49e86f_3_8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Le critère principal est le délai : un développeur, quatre semaines. D’où TypeScript partout : un seul langage, et des types partagés entre le front et l’API. NestJS pour sa structure en modules et sa validation intégrée. React et Vite pour l’écosystème et la rapidité. PostgreSQL parce que les données sont relationnelles, avec des contraintes d’unicité. JWT sans état côté serveur. Le stockage est local mais isolé derrière une interface, permettant de passer à S3 sans réécrire la couche métier. J’ai aussi refusé des outils : pas de Redux, pas de librairie de composants, pas de Husky car ils alourdiraient la stack sans véritable apport pourle projet.</a:t>
            </a:r>
            <a:endParaRPr/>
          </a:p>
        </p:txBody>
      </p:sp>
      <p:sp>
        <p:nvSpPr>
          <p:cNvPr id="138" name="Google Shape;138;h75e1c6096e49e86f_3_8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h75e1c6096e49e86f_3_9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h75e1c6096e49e86f_3_9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Le navigateur ne communique qu’aavec l’API en HTTPS. Elle sert le front et transmet les appels /api à NestJS. L’API a deux modules : l’authentification et les fichiers. Les métadonnées vont dans PostgreSQL, le contenu des fichiers sur le disque, derrière StorageService. Le token JWT part dans l’en-tête Authorization ; il est optionnel à l’upload, pour l’upload anonyme. Un package partagé, shared_lib, contient les types de l’API et les règles de validation : le front et le back appliquent exactement les mêmes.</a:t>
            </a:r>
            <a:br>
              <a:rPr lang="fr"/>
            </a:br>
            <a:br>
              <a:rPr lang="fr">
                <a:solidFill>
                  <a:schemeClr val="dk1"/>
                </a:solidFill>
                <a:highlight>
                  <a:schemeClr val="lt1"/>
                </a:highlight>
              </a:rPr>
            </a:br>
            <a:r>
              <a:rPr lang="fr" sz="1000">
                <a:solidFill>
                  <a:schemeClr val="dk1"/>
                </a:solidFill>
                <a:highlight>
                  <a:schemeClr val="lt1"/>
                </a:highlight>
                <a:latin typeface="Roboto"/>
                <a:ea typeface="Roboto"/>
                <a:cs typeface="Roboto"/>
                <a:sym typeface="Roboto"/>
              </a:rPr>
              <a:t>Dans ce projet, le « proxy » est l'intermédiaire placé entre le navigateur et l'API : le navigateur ne parle jamais directement à NestJS.</a:t>
            </a:r>
            <a:endParaRPr sz="1000">
              <a:solidFill>
                <a:schemeClr val="dk1"/>
              </a:solidFill>
              <a:highlight>
                <a:schemeClr val="lt1"/>
              </a:highlight>
              <a:latin typeface="Roboto"/>
              <a:ea typeface="Roboto"/>
              <a:cs typeface="Roboto"/>
              <a:sym typeface="Roboto"/>
            </a:endParaRPr>
          </a:p>
          <a:p>
            <a:pPr indent="0" lvl="0" marL="0" rtl="0" algn="l">
              <a:lnSpc>
                <a:spcPct val="115000"/>
              </a:lnSpc>
              <a:spcBef>
                <a:spcPts val="100"/>
              </a:spcBef>
              <a:spcAft>
                <a:spcPts val="0"/>
              </a:spcAft>
              <a:buClr>
                <a:schemeClr val="dk1"/>
              </a:buClr>
              <a:buSzPts val="1100"/>
              <a:buFont typeface="Arial"/>
              <a:buNone/>
            </a:pPr>
            <a:r>
              <a:rPr b="1" lang="fr" sz="1000">
                <a:solidFill>
                  <a:schemeClr val="dk1"/>
                </a:solidFill>
                <a:highlight>
                  <a:schemeClr val="lt1"/>
                </a:highlight>
                <a:latin typeface="Roboto"/>
                <a:ea typeface="Roboto"/>
                <a:cs typeface="Roboto"/>
                <a:sym typeface="Roboto"/>
              </a:rPr>
              <a:t>Concrètement, en développement, c'est le serveur Vite.</a:t>
            </a:r>
            <a:r>
              <a:rPr lang="fr" sz="1000">
                <a:solidFill>
                  <a:schemeClr val="dk1"/>
                </a:solidFill>
                <a:highlight>
                  <a:schemeClr val="lt1"/>
                </a:highlight>
                <a:latin typeface="Roboto"/>
                <a:ea typeface="Roboto"/>
                <a:cs typeface="Roboto"/>
                <a:sym typeface="Roboto"/>
              </a:rPr>
              <a:t> Il écoute en HTTPS sur </a:t>
            </a:r>
            <a:r>
              <a:rPr lang="fr" sz="900">
                <a:solidFill>
                  <a:schemeClr val="dk1"/>
                </a:solidFill>
                <a:highlight>
                  <a:schemeClr val="lt1"/>
                </a:highlight>
                <a:latin typeface="Courier New"/>
                <a:ea typeface="Courier New"/>
                <a:cs typeface="Courier New"/>
                <a:sym typeface="Courier New"/>
              </a:rPr>
              <a:t>https://localhost:8080</a:t>
            </a:r>
            <a:r>
              <a:rPr lang="fr" sz="1000">
                <a:solidFill>
                  <a:schemeClr val="dk1"/>
                </a:solidFill>
                <a:highlight>
                  <a:schemeClr val="lt1"/>
                </a:highlight>
                <a:latin typeface="Roboto"/>
                <a:ea typeface="Roboto"/>
                <a:cs typeface="Roboto"/>
                <a:sym typeface="Roboto"/>
              </a:rPr>
              <a:t> et fait deux choses :</a:t>
            </a:r>
            <a:endParaRPr sz="1000">
              <a:solidFill>
                <a:schemeClr val="dk1"/>
              </a:solidFill>
              <a:highlight>
                <a:schemeClr val="lt1"/>
              </a:highlight>
              <a:latin typeface="Roboto"/>
              <a:ea typeface="Roboto"/>
              <a:cs typeface="Roboto"/>
              <a:sym typeface="Roboto"/>
            </a:endParaRPr>
          </a:p>
          <a:p>
            <a:pPr indent="-292100" lvl="0" marL="457200" rtl="0" algn="l">
              <a:lnSpc>
                <a:spcPct val="115000"/>
              </a:lnSpc>
              <a:spcBef>
                <a:spcPts val="1000"/>
              </a:spcBef>
              <a:spcAft>
                <a:spcPts val="0"/>
              </a:spcAft>
              <a:buClr>
                <a:schemeClr val="dk1"/>
              </a:buClr>
              <a:buSzPts val="1000"/>
              <a:buFont typeface="Roboto"/>
              <a:buChar char="●"/>
            </a:pPr>
            <a:r>
              <a:rPr lang="fr" sz="1000">
                <a:solidFill>
                  <a:schemeClr val="dk1"/>
                </a:solidFill>
                <a:highlight>
                  <a:schemeClr val="lt1"/>
                </a:highlight>
                <a:latin typeface="Roboto"/>
                <a:ea typeface="Roboto"/>
                <a:cs typeface="Roboto"/>
                <a:sym typeface="Roboto"/>
              </a:rPr>
              <a:t>il sert le front (les pages React) ;</a:t>
            </a:r>
            <a:endParaRPr sz="1000">
              <a:solidFill>
                <a:schemeClr val="dk1"/>
              </a:solidFill>
              <a:highlight>
                <a:schemeClr val="lt1"/>
              </a:highlight>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lang="fr" sz="1000">
                <a:solidFill>
                  <a:schemeClr val="dk1"/>
                </a:solidFill>
                <a:highlight>
                  <a:schemeClr val="lt1"/>
                </a:highlight>
                <a:latin typeface="Roboto"/>
                <a:ea typeface="Roboto"/>
                <a:cs typeface="Roboto"/>
                <a:sym typeface="Roboto"/>
              </a:rPr>
              <a:t>il relaie vers l'API tout appel dont le chemin commence par </a:t>
            </a:r>
            <a:r>
              <a:rPr lang="fr" sz="900">
                <a:solidFill>
                  <a:schemeClr val="dk1"/>
                </a:solidFill>
                <a:highlight>
                  <a:schemeClr val="lt1"/>
                </a:highlight>
                <a:latin typeface="Courier New"/>
                <a:ea typeface="Courier New"/>
                <a:cs typeface="Courier New"/>
                <a:sym typeface="Courier New"/>
              </a:rPr>
              <a:t>/api</a:t>
            </a:r>
            <a:r>
              <a:rPr lang="fr" sz="1000">
                <a:solidFill>
                  <a:schemeClr val="dk1"/>
                </a:solidFill>
                <a:highlight>
                  <a:schemeClr val="lt1"/>
                </a:highlight>
                <a:latin typeface="Roboto"/>
                <a:ea typeface="Roboto"/>
                <a:cs typeface="Roboto"/>
                <a:sym typeface="Roboto"/>
              </a:rPr>
              <a:t>. Il retire ce préfixe et transmet la requête à NestJS, qui écoute en HTTP simple sur le port 3000.</a:t>
            </a:r>
            <a:endParaRPr sz="1000">
              <a:solidFill>
                <a:schemeClr val="dk1"/>
              </a:solidFill>
              <a:highlight>
                <a:schemeClr val="lt1"/>
              </a:highlight>
              <a:latin typeface="Roboto"/>
              <a:ea typeface="Roboto"/>
              <a:cs typeface="Roboto"/>
              <a:sym typeface="Roboto"/>
            </a:endParaRPr>
          </a:p>
          <a:p>
            <a:pPr indent="0" lvl="0" marL="0" rtl="0" algn="l">
              <a:spcBef>
                <a:spcPts val="1000"/>
              </a:spcBef>
              <a:spcAft>
                <a:spcPts val="0"/>
              </a:spcAft>
              <a:buNone/>
            </a:pPr>
            <a:r>
              <a:t/>
            </a:r>
            <a:endParaRPr/>
          </a:p>
        </p:txBody>
      </p:sp>
      <p:sp>
        <p:nvSpPr>
          <p:cNvPr id="147" name="Google Shape;147;h75e1c6096e49e86f_3_9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h75e1c6096e49e86f_3_12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h75e1c6096e49e86f_3_12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Le modèle est volontairement simple : un utilisateur possède des fichiers. Le propriétaire est facultatif, pour l’upload anonyme. Le lien repose sur un token aléatoire, jamais sur l’identifiant du fichier. L’API compte huit routes, décrites dans un contrat OpenAPI. Les codes d’erreur suivent une règle écrite : 422 pour tout contrôle de saisie des spécifications, 410 pour un lien expiré, distinct du 404 d’un lien inconnu. Chaque erreur porte un message lisible, affiché tel quel par le front.</a:t>
            </a:r>
            <a:endParaRPr/>
          </a:p>
        </p:txBody>
      </p:sp>
      <p:sp>
        <p:nvSpPr>
          <p:cNvPr id="183" name="Google Shape;183;h75e1c6096e49e86f_3_12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h75e1c6096e49e86f_3_15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h75e1c6096e49e86f_3_15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Démonstration en direct, environ quatre minutes. Prévoir : application lancée, un fichier de test, un fichier .exe, une fenêtre de navigation privée. 1. Inscription avec un email invalide puis valide : erreurs sous les champs. 2. Upload avec mot de passe et durée de 2 jours : lien affiché. 3. Ouverture du lien en navigation privée : mauvais mot de passe, puis le bon, téléchargement. 4. Mes fichiers : filtre actifs / expirés, suppression avec confirmation, le lien répond ensuite 404. 5. Déconnexion et upload anonyme. 6. Fichier .exe refusé, lien inconnu.</a:t>
            </a:r>
            <a:endParaRPr/>
          </a:p>
        </p:txBody>
      </p:sp>
      <p:sp>
        <p:nvSpPr>
          <p:cNvPr id="214" name="Google Shape;214;h75e1c6096e49e86f_3_15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h75e1c6096e49e86f_3_19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h75e1c6096e49e86f_3_19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Quatre chiffres. 206 tests automatisés, sur quatre niveaux : unitaire, composant, intégration de l’API, plus trois scénarios Cypress dans un vrai navigateur. Couverture de 95,8 % des lignes pour un seuil de 70 % : sous le seuil, la commande échoue. Sécurité : le premier scan trouvait 9 vulnérabilités ; 5 venaient d’une dépendance inutile que j’ai supprimée, 4 de Prisma, corrigées par des overrides. Performance : test de charge k6 de 5 à 20 utilisateurs, aucune erreur ; à 20 utilisateurs le process Node sature et ralentit, sans casser. Ces contrôles sont automatiques : au commit, au push et dans la CI.</a:t>
            </a:r>
            <a:endParaRPr/>
          </a:p>
        </p:txBody>
      </p:sp>
      <p:sp>
        <p:nvSpPr>
          <p:cNvPr id="251" name="Google Shape;251;h75e1c6096e49e86f_3_19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h75e1c6096e49e86f_3_22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h75e1c6096e49e86f_3_22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La documentation est répartie par lecteur. Le README pour installer et lancer : un script fait toute l’installation. Le contrat OpenAPI pour qui consomme l’API. La documentation technique, sur le modèle fourni, résume tout et renvoie vers le détail. Les notes d’architecture gardent la trace de chaque arbitrage, avec la spécification qui le justifie. Les quatre fichiers de suivi : plan de tests, sécurité, performance, maintenance. La maintenance décrit la fréquence des mises à jour, leurs risques, et la correction d’une anomalie à partir des logs.</a:t>
            </a:r>
            <a:endParaRPr/>
          </a:p>
        </p:txBody>
      </p:sp>
      <p:sp>
        <p:nvSpPr>
          <p:cNvPr id="285" name="Google Shape;285;h75e1c6096e49e86f_3_22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h75e1c6096e49e86f_3_25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h75e1c6096e49e86f_3_25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Avec Claude Code, j’ai adopté la posture de l’assignation d’une tâche complète, comme à un junior : la user story US07, l’upload anonyme, avec un périmètre et des tâches fixés à l’avance. Le premier jet est commité tel quel, puis corrigé dans un second commit, pour que la part de l’IA reste visible dans l’historique. La relecture d’US07 a trouvé un défaut d’autorisation : un token expiré ou falsifié était accepté comme un upload anonyme. Le fichier perdait son propriétaire, sans aucune erreur. Ni la compilation ni les tests ne le signalaient. Trois limites récurrentes : des outils surdimensionnés, des API dépréciées, des initiatives non demandées. Ma réponse : des consignes écrites, des validations imposées, et les hooks et la CI qui s’appliquent au code de l’IA comme au mien.</a:t>
            </a:r>
            <a:endParaRPr/>
          </a:p>
        </p:txBody>
      </p:sp>
      <p:sp>
        <p:nvSpPr>
          <p:cNvPr id="316" name="Google Shape;316;h75e1c6096e49e86f_3_25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h75e1c6096e49e86f_3_27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h75e1c6096e49e86f_3_27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Trois difficultés et leur solution. Accepter 1 Go sans charger le fichier en mémoire : réception et envoi en flux, confirmés par le test de charge où la mémoire reste bornée. Neuf vulnérabilités dès l’installation : j’ai analysé chacune au lieu d’appliquer la correction automatique, qui rétrogradait Prisma de deux versions majeures. Garder la maîtrise face à l’IA : validations et contrôles automatiques. Les limites sont connues et documentées. Priorités si l’application est mise en service : la purge des fichiers expirés, la limitation de débit, puis un vrai déploiement avec reverse proxy.</a:t>
            </a:r>
            <a:endParaRPr/>
          </a:p>
        </p:txBody>
      </p:sp>
      <p:sp>
        <p:nvSpPr>
          <p:cNvPr id="341" name="Google Shape;341;h75e1c6096e49e86f_3_27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h75e1c6096e49e86f_3_30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h75e1c6096e49e86f_3_30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Pour la discussion, points à avoir en tête : la problématique métier (partage temporaire, avec ou sans compte) ; l’organisation du code (modules NestJS, shared_lib, StorageService) ; la gestion des erreurs (422 / 410, messages explicites) ; le maintien en conditions opérationnelles (MAINTENANCE.md, logs JSON, X-Request-Id) ; les optimisations possibles (plusieurs process Node, téléchargement par le reverse proxy, stockage objet).</a:t>
            </a:r>
            <a:endParaRPr/>
          </a:p>
        </p:txBody>
      </p:sp>
      <p:sp>
        <p:nvSpPr>
          <p:cNvPr id="368" name="Google Shape;368;h75e1c6096e49e86f_3_30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2B2230"/>
        </a:solidFill>
      </p:bgPr>
    </p:bg>
    <p:spTree>
      <p:nvGrpSpPr>
        <p:cNvPr id="52" name="Shape 52"/>
        <p:cNvGrpSpPr/>
        <p:nvPr/>
      </p:nvGrpSpPr>
      <p:grpSpPr>
        <a:xfrm>
          <a:off x="0" y="0"/>
          <a:ext cx="0" cy="0"/>
          <a:chOff x="0" y="0"/>
          <a:chExt cx="0" cy="0"/>
        </a:xfrm>
      </p:grpSpPr>
      <p:sp>
        <p:nvSpPr>
          <p:cNvPr id="53" name="Google Shape;53;p14"/>
          <p:cNvSpPr txBox="1"/>
          <p:nvPr>
            <p:ph type="title"/>
          </p:nvPr>
        </p:nvSpPr>
        <p:spPr>
          <a:xfrm>
            <a:off x="640080" y="1554480"/>
            <a:ext cx="7863840" cy="10058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5400"/>
              <a:buFont typeface="Calibri"/>
              <a:buNone/>
              <a:defRPr b="1" i="0" sz="5400" u="none" cap="none" strike="noStrike">
                <a:solidFill>
                  <a:srgbClr val="FFFFF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4" name="Google Shape;54;p14"/>
          <p:cNvSpPr txBox="1"/>
          <p:nvPr>
            <p:ph idx="1" type="body"/>
          </p:nvPr>
        </p:nvSpPr>
        <p:spPr>
          <a:xfrm>
            <a:off x="640080" y="2651760"/>
            <a:ext cx="7863840" cy="146304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rgbClr val="FFB48A"/>
              </a:buClr>
              <a:buSzPts val="2000"/>
              <a:buFont typeface="Arial"/>
              <a:buNone/>
              <a:defRPr b="0" i="0" sz="2000" u="none" cap="none" strike="noStrike">
                <a:solidFill>
                  <a:srgbClr val="FFB48A"/>
                </a:solidFill>
                <a:latin typeface="Calibri"/>
                <a:ea typeface="Calibri"/>
                <a:cs typeface="Calibri"/>
                <a:sym typeface="Calibri"/>
              </a:defRPr>
            </a:lvl1pPr>
            <a:lvl2pPr indent="-406400" lvl="1" marL="914400" marR="0" rtl="0" algn="l">
              <a:spcBef>
                <a:spcPts val="560"/>
              </a:spcBef>
              <a:spcAft>
                <a:spcPts val="0"/>
              </a:spcAft>
              <a:buClr>
                <a:srgbClr val="2B2230"/>
              </a:buClr>
              <a:buSzPts val="2800"/>
              <a:buFont typeface="Arial"/>
              <a:buChar char="–"/>
              <a:defRPr b="0" i="0" sz="2800" u="none" cap="none" strike="noStrike">
                <a:solidFill>
                  <a:srgbClr val="2B2230"/>
                </a:solidFill>
                <a:latin typeface="Calibri"/>
                <a:ea typeface="Calibri"/>
                <a:cs typeface="Calibri"/>
                <a:sym typeface="Calibri"/>
              </a:defRPr>
            </a:lvl2pPr>
            <a:lvl3pPr indent="-381000" lvl="2" marL="1371600" marR="0" rtl="0" algn="l">
              <a:spcBef>
                <a:spcPts val="480"/>
              </a:spcBef>
              <a:spcAft>
                <a:spcPts val="0"/>
              </a:spcAft>
              <a:buClr>
                <a:srgbClr val="2B2230"/>
              </a:buClr>
              <a:buSzPts val="2400"/>
              <a:buFont typeface="Arial"/>
              <a:buChar char="•"/>
              <a:defRPr b="0" i="0" sz="2400" u="none" cap="none" strike="noStrike">
                <a:solidFill>
                  <a:srgbClr val="2B2230"/>
                </a:solidFill>
                <a:latin typeface="Calibri"/>
                <a:ea typeface="Calibri"/>
                <a:cs typeface="Calibri"/>
                <a:sym typeface="Calibri"/>
              </a:defRPr>
            </a:lvl3pPr>
            <a:lvl4pPr indent="-355600" lvl="3" marL="1828800" marR="0" rtl="0" algn="l">
              <a:spcBef>
                <a:spcPts val="400"/>
              </a:spcBef>
              <a:spcAft>
                <a:spcPts val="0"/>
              </a:spcAft>
              <a:buClr>
                <a:srgbClr val="2B2230"/>
              </a:buClr>
              <a:buSzPts val="2000"/>
              <a:buFont typeface="Arial"/>
              <a:buChar char="–"/>
              <a:defRPr b="0" i="0" sz="2000" u="none" cap="none" strike="noStrike">
                <a:solidFill>
                  <a:srgbClr val="2B2230"/>
                </a:solidFill>
                <a:latin typeface="Calibri"/>
                <a:ea typeface="Calibri"/>
                <a:cs typeface="Calibri"/>
                <a:sym typeface="Calibri"/>
              </a:defRPr>
            </a:lvl4pPr>
            <a:lvl5pPr indent="-355600" lvl="4" marL="2286000" marR="0" rtl="0" algn="l">
              <a:spcBef>
                <a:spcPts val="400"/>
              </a:spcBef>
              <a:spcAft>
                <a:spcPts val="0"/>
              </a:spcAft>
              <a:buClr>
                <a:srgbClr val="2B2230"/>
              </a:buClr>
              <a:buSzPts val="2000"/>
              <a:buFont typeface="Arial"/>
              <a:buChar char="»"/>
              <a:defRPr b="0" i="0" sz="2000" u="none" cap="none" strike="noStrike">
                <a:solidFill>
                  <a:srgbClr val="2B2230"/>
                </a:solidFill>
                <a:latin typeface="Calibri"/>
                <a:ea typeface="Calibri"/>
                <a:cs typeface="Calibri"/>
                <a:sym typeface="Calibri"/>
              </a:defRPr>
            </a:lvl5pPr>
            <a:lvl6pPr indent="-355600" lvl="5" marL="2743200" marR="0" rtl="0" algn="l">
              <a:spcBef>
                <a:spcPts val="400"/>
              </a:spcBef>
              <a:spcAft>
                <a:spcPts val="0"/>
              </a:spcAft>
              <a:buClr>
                <a:srgbClr val="2B2230"/>
              </a:buClr>
              <a:buSzPts val="2000"/>
              <a:buFont typeface="Arial"/>
              <a:buChar char="•"/>
              <a:defRPr b="0" i="0" sz="2000" u="none" cap="none" strike="noStrike">
                <a:solidFill>
                  <a:srgbClr val="2B2230"/>
                </a:solidFill>
                <a:latin typeface="Calibri"/>
                <a:ea typeface="Calibri"/>
                <a:cs typeface="Calibri"/>
                <a:sym typeface="Calibri"/>
              </a:defRPr>
            </a:lvl6pPr>
            <a:lvl7pPr indent="-355600" lvl="6" marL="3200400" marR="0" rtl="0" algn="l">
              <a:spcBef>
                <a:spcPts val="400"/>
              </a:spcBef>
              <a:spcAft>
                <a:spcPts val="0"/>
              </a:spcAft>
              <a:buClr>
                <a:srgbClr val="2B2230"/>
              </a:buClr>
              <a:buSzPts val="2000"/>
              <a:buFont typeface="Arial"/>
              <a:buChar char="•"/>
              <a:defRPr b="0" i="0" sz="2000" u="none" cap="none" strike="noStrike">
                <a:solidFill>
                  <a:srgbClr val="2B2230"/>
                </a:solidFill>
                <a:latin typeface="Calibri"/>
                <a:ea typeface="Calibri"/>
                <a:cs typeface="Calibri"/>
                <a:sym typeface="Calibri"/>
              </a:defRPr>
            </a:lvl7pPr>
            <a:lvl8pPr indent="-355600" lvl="7" marL="3657600" marR="0" rtl="0" algn="l">
              <a:spcBef>
                <a:spcPts val="400"/>
              </a:spcBef>
              <a:spcAft>
                <a:spcPts val="0"/>
              </a:spcAft>
              <a:buClr>
                <a:srgbClr val="2B2230"/>
              </a:buClr>
              <a:buSzPts val="2000"/>
              <a:buFont typeface="Arial"/>
              <a:buChar char="•"/>
              <a:defRPr b="0" i="0" sz="2000" u="none" cap="none" strike="noStrike">
                <a:solidFill>
                  <a:srgbClr val="2B2230"/>
                </a:solidFill>
                <a:latin typeface="Calibri"/>
                <a:ea typeface="Calibri"/>
                <a:cs typeface="Calibri"/>
                <a:sym typeface="Calibri"/>
              </a:defRPr>
            </a:lvl8pPr>
            <a:lvl9pPr indent="-355600" lvl="8" marL="4114800" marR="0" rtl="0" algn="l">
              <a:spcBef>
                <a:spcPts val="400"/>
              </a:spcBef>
              <a:spcAft>
                <a:spcPts val="0"/>
              </a:spcAft>
              <a:buClr>
                <a:srgbClr val="2B2230"/>
              </a:buClr>
              <a:buSzPts val="2000"/>
              <a:buFont typeface="Arial"/>
              <a:buChar char="•"/>
              <a:defRPr b="0" i="0" sz="2000" u="none" cap="none" strike="noStrike">
                <a:solidFill>
                  <a:srgbClr val="2B2230"/>
                </a:solidFill>
                <a:latin typeface="Calibri"/>
                <a:ea typeface="Calibri"/>
                <a:cs typeface="Calibri"/>
                <a:sym typeface="Calibri"/>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55" name="Shape 55"/>
        <p:cNvGrpSpPr/>
        <p:nvPr/>
      </p:nvGrpSpPr>
      <p:grpSpPr>
        <a:xfrm>
          <a:off x="0" y="0"/>
          <a:ext cx="0" cy="0"/>
          <a:chOff x="0" y="0"/>
          <a:chExt cx="0" cy="0"/>
        </a:xfrm>
      </p:grpSpPr>
      <p:sp>
        <p:nvSpPr>
          <p:cNvPr id="56" name="Google Shape;56;p15"/>
          <p:cNvSpPr txBox="1"/>
          <p:nvPr>
            <p:ph type="title"/>
          </p:nvPr>
        </p:nvSpPr>
        <p:spPr>
          <a:xfrm>
            <a:off x="457200" y="274320"/>
            <a:ext cx="8229600" cy="6400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2B2230"/>
              </a:buClr>
              <a:buSzPts val="3000"/>
              <a:buFont typeface="Calibri"/>
              <a:buNone/>
              <a:defRPr b="1" i="0" sz="3000" u="none" cap="none" strike="noStrike">
                <a:solidFill>
                  <a:srgbClr val="2B223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7" name="Google Shape;57;p15"/>
          <p:cNvSpPr txBox="1"/>
          <p:nvPr>
            <p:ph idx="12"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rgbClr val="8A8291"/>
                </a:solidFill>
                <a:latin typeface="Calibri"/>
                <a:ea typeface="Calibri"/>
                <a:cs typeface="Calibri"/>
                <a:sym typeface="Calibri"/>
              </a:defRPr>
            </a:lvl1pPr>
            <a:lvl2pPr indent="0" lvl="1" marL="0" marR="0" algn="r">
              <a:spcBef>
                <a:spcPts val="0"/>
              </a:spcBef>
              <a:buNone/>
              <a:defRPr b="0" i="0" sz="1000" u="none" cap="none" strike="noStrike">
                <a:solidFill>
                  <a:srgbClr val="8A8291"/>
                </a:solidFill>
                <a:latin typeface="Calibri"/>
                <a:ea typeface="Calibri"/>
                <a:cs typeface="Calibri"/>
                <a:sym typeface="Calibri"/>
              </a:defRPr>
            </a:lvl2pPr>
            <a:lvl3pPr indent="0" lvl="2" marL="0" marR="0" algn="r">
              <a:spcBef>
                <a:spcPts val="0"/>
              </a:spcBef>
              <a:buNone/>
              <a:defRPr b="0" i="0" sz="1000" u="none" cap="none" strike="noStrike">
                <a:solidFill>
                  <a:srgbClr val="8A8291"/>
                </a:solidFill>
                <a:latin typeface="Calibri"/>
                <a:ea typeface="Calibri"/>
                <a:cs typeface="Calibri"/>
                <a:sym typeface="Calibri"/>
              </a:defRPr>
            </a:lvl3pPr>
            <a:lvl4pPr indent="0" lvl="3" marL="0" marR="0" algn="r">
              <a:spcBef>
                <a:spcPts val="0"/>
              </a:spcBef>
              <a:buNone/>
              <a:defRPr b="0" i="0" sz="1000" u="none" cap="none" strike="noStrike">
                <a:solidFill>
                  <a:srgbClr val="8A8291"/>
                </a:solidFill>
                <a:latin typeface="Calibri"/>
                <a:ea typeface="Calibri"/>
                <a:cs typeface="Calibri"/>
                <a:sym typeface="Calibri"/>
              </a:defRPr>
            </a:lvl4pPr>
            <a:lvl5pPr indent="0" lvl="4" marL="0" marR="0" algn="r">
              <a:spcBef>
                <a:spcPts val="0"/>
              </a:spcBef>
              <a:buNone/>
              <a:defRPr b="0" i="0" sz="1000" u="none" cap="none" strike="noStrike">
                <a:solidFill>
                  <a:srgbClr val="8A8291"/>
                </a:solidFill>
                <a:latin typeface="Calibri"/>
                <a:ea typeface="Calibri"/>
                <a:cs typeface="Calibri"/>
                <a:sym typeface="Calibri"/>
              </a:defRPr>
            </a:lvl5pPr>
            <a:lvl6pPr indent="0" lvl="5" marL="0" marR="0" algn="r">
              <a:spcBef>
                <a:spcPts val="0"/>
              </a:spcBef>
              <a:buNone/>
              <a:defRPr b="0" i="0" sz="1000" u="none" cap="none" strike="noStrike">
                <a:solidFill>
                  <a:srgbClr val="8A8291"/>
                </a:solidFill>
                <a:latin typeface="Calibri"/>
                <a:ea typeface="Calibri"/>
                <a:cs typeface="Calibri"/>
                <a:sym typeface="Calibri"/>
              </a:defRPr>
            </a:lvl6pPr>
            <a:lvl7pPr indent="0" lvl="6" marL="0" marR="0" algn="r">
              <a:spcBef>
                <a:spcPts val="0"/>
              </a:spcBef>
              <a:buNone/>
              <a:defRPr b="0" i="0" sz="1000" u="none" cap="none" strike="noStrike">
                <a:solidFill>
                  <a:srgbClr val="8A8291"/>
                </a:solidFill>
                <a:latin typeface="Calibri"/>
                <a:ea typeface="Calibri"/>
                <a:cs typeface="Calibri"/>
                <a:sym typeface="Calibri"/>
              </a:defRPr>
            </a:lvl7pPr>
            <a:lvl8pPr indent="0" lvl="7" marL="0" marR="0" algn="r">
              <a:spcBef>
                <a:spcPts val="0"/>
              </a:spcBef>
              <a:buNone/>
              <a:defRPr b="0" i="0" sz="1000" u="none" cap="none" strike="noStrike">
                <a:solidFill>
                  <a:srgbClr val="8A8291"/>
                </a:solidFill>
                <a:latin typeface="Calibri"/>
                <a:ea typeface="Calibri"/>
                <a:cs typeface="Calibri"/>
                <a:sym typeface="Calibri"/>
              </a:defRPr>
            </a:lvl8pPr>
            <a:lvl9pPr indent="0" lvl="8" marL="0" marR="0" algn="r">
              <a:spcBef>
                <a:spcPts val="0"/>
              </a:spcBef>
              <a:buNone/>
              <a:defRPr b="0" i="0" sz="1000" u="none" cap="none" strike="noStrike">
                <a:solidFill>
                  <a:srgbClr val="8A829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8" name="Shape 58"/>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rgbClr val="8A8291"/>
                </a:solidFill>
                <a:latin typeface="Calibri"/>
                <a:ea typeface="Calibri"/>
                <a:cs typeface="Calibri"/>
                <a:sym typeface="Calibri"/>
              </a:defRPr>
            </a:lvl1pPr>
            <a:lvl2pPr indent="0" lvl="1" marL="0" marR="0" rtl="0" algn="r">
              <a:spcBef>
                <a:spcPts val="0"/>
              </a:spcBef>
              <a:buNone/>
              <a:defRPr b="0" i="0" sz="1000" u="none" cap="none" strike="noStrike">
                <a:solidFill>
                  <a:srgbClr val="8A8291"/>
                </a:solidFill>
                <a:latin typeface="Calibri"/>
                <a:ea typeface="Calibri"/>
                <a:cs typeface="Calibri"/>
                <a:sym typeface="Calibri"/>
              </a:defRPr>
            </a:lvl2pPr>
            <a:lvl3pPr indent="0" lvl="2" marL="0" marR="0" rtl="0" algn="r">
              <a:spcBef>
                <a:spcPts val="0"/>
              </a:spcBef>
              <a:buNone/>
              <a:defRPr b="0" i="0" sz="1000" u="none" cap="none" strike="noStrike">
                <a:solidFill>
                  <a:srgbClr val="8A8291"/>
                </a:solidFill>
                <a:latin typeface="Calibri"/>
                <a:ea typeface="Calibri"/>
                <a:cs typeface="Calibri"/>
                <a:sym typeface="Calibri"/>
              </a:defRPr>
            </a:lvl3pPr>
            <a:lvl4pPr indent="0" lvl="3" marL="0" marR="0" rtl="0" algn="r">
              <a:spcBef>
                <a:spcPts val="0"/>
              </a:spcBef>
              <a:buNone/>
              <a:defRPr b="0" i="0" sz="1000" u="none" cap="none" strike="noStrike">
                <a:solidFill>
                  <a:srgbClr val="8A8291"/>
                </a:solidFill>
                <a:latin typeface="Calibri"/>
                <a:ea typeface="Calibri"/>
                <a:cs typeface="Calibri"/>
                <a:sym typeface="Calibri"/>
              </a:defRPr>
            </a:lvl4pPr>
            <a:lvl5pPr indent="0" lvl="4" marL="0" marR="0" rtl="0" algn="r">
              <a:spcBef>
                <a:spcPts val="0"/>
              </a:spcBef>
              <a:buNone/>
              <a:defRPr b="0" i="0" sz="1000" u="none" cap="none" strike="noStrike">
                <a:solidFill>
                  <a:srgbClr val="8A8291"/>
                </a:solidFill>
                <a:latin typeface="Calibri"/>
                <a:ea typeface="Calibri"/>
                <a:cs typeface="Calibri"/>
                <a:sym typeface="Calibri"/>
              </a:defRPr>
            </a:lvl5pPr>
            <a:lvl6pPr indent="0" lvl="5" marL="0" marR="0" rtl="0" algn="r">
              <a:spcBef>
                <a:spcPts val="0"/>
              </a:spcBef>
              <a:buNone/>
              <a:defRPr b="0" i="0" sz="1000" u="none" cap="none" strike="noStrike">
                <a:solidFill>
                  <a:srgbClr val="8A8291"/>
                </a:solidFill>
                <a:latin typeface="Calibri"/>
                <a:ea typeface="Calibri"/>
                <a:cs typeface="Calibri"/>
                <a:sym typeface="Calibri"/>
              </a:defRPr>
            </a:lvl6pPr>
            <a:lvl7pPr indent="0" lvl="6" marL="0" marR="0" rtl="0" algn="r">
              <a:spcBef>
                <a:spcPts val="0"/>
              </a:spcBef>
              <a:buNone/>
              <a:defRPr b="0" i="0" sz="1000" u="none" cap="none" strike="noStrike">
                <a:solidFill>
                  <a:srgbClr val="8A8291"/>
                </a:solidFill>
                <a:latin typeface="Calibri"/>
                <a:ea typeface="Calibri"/>
                <a:cs typeface="Calibri"/>
                <a:sym typeface="Calibri"/>
              </a:defRPr>
            </a:lvl7pPr>
            <a:lvl8pPr indent="0" lvl="7" marL="0" marR="0" rtl="0" algn="r">
              <a:spcBef>
                <a:spcPts val="0"/>
              </a:spcBef>
              <a:buNone/>
              <a:defRPr b="0" i="0" sz="1000" u="none" cap="none" strike="noStrike">
                <a:solidFill>
                  <a:srgbClr val="8A8291"/>
                </a:solidFill>
                <a:latin typeface="Calibri"/>
                <a:ea typeface="Calibri"/>
                <a:cs typeface="Calibri"/>
                <a:sym typeface="Calibri"/>
              </a:defRPr>
            </a:lvl8pPr>
            <a:lvl9pPr indent="0" lvl="8" marL="0" marR="0" rtl="0" algn="r">
              <a:spcBef>
                <a:spcPts val="0"/>
              </a:spcBef>
              <a:buNone/>
              <a:defRPr b="0" i="0" sz="1000" u="none" cap="none" strike="noStrike">
                <a:solidFill>
                  <a:srgbClr val="8A829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hyperlink" Target="https://negstek.github.io/3_pilotez_un_proje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Améliorer cette diapositive" id="64" name="Google Shape;64;p18"/>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9"/>
          <p:cNvSpPr txBox="1"/>
          <p:nvPr>
            <p:ph type="title"/>
          </p:nvPr>
        </p:nvSpPr>
        <p:spPr>
          <a:xfrm>
            <a:off x="457200" y="274320"/>
            <a:ext cx="8229600" cy="64008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2B2230"/>
              </a:buClr>
              <a:buSzPts val="3000"/>
              <a:buFont typeface="Calibri"/>
              <a:buNone/>
            </a:pPr>
            <a:r>
              <a:rPr b="1" lang="fr" sz="3000">
                <a:solidFill>
                  <a:srgbClr val="2B2230"/>
                </a:solidFill>
              </a:rPr>
              <a:t>Partager un fichier en trois gestes</a:t>
            </a:r>
            <a:endParaRPr sz="3000"/>
          </a:p>
        </p:txBody>
      </p:sp>
      <p:sp>
        <p:nvSpPr>
          <p:cNvPr id="71" name="Google Shape;71;p19"/>
          <p:cNvSpPr/>
          <p:nvPr/>
        </p:nvSpPr>
        <p:spPr>
          <a:xfrm>
            <a:off x="457200" y="1188720"/>
            <a:ext cx="2560320" cy="1600200"/>
          </a:xfrm>
          <a:prstGeom prst="roundRect">
            <a:avLst>
              <a:gd fmla="val 4571"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9"/>
          <p:cNvSpPr/>
          <p:nvPr/>
        </p:nvSpPr>
        <p:spPr>
          <a:xfrm>
            <a:off x="621792" y="1335024"/>
            <a:ext cx="457200" cy="457200"/>
          </a:xfrm>
          <a:prstGeom prst="ellipse">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9"/>
          <p:cNvSpPr txBox="1"/>
          <p:nvPr/>
        </p:nvSpPr>
        <p:spPr>
          <a:xfrm>
            <a:off x="621792" y="133502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fr" sz="18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74" name="Google Shape;74;p19"/>
          <p:cNvSpPr txBox="1"/>
          <p:nvPr/>
        </p:nvSpPr>
        <p:spPr>
          <a:xfrm>
            <a:off x="1207008" y="1335024"/>
            <a:ext cx="1645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230"/>
              </a:buClr>
              <a:buSzPts val="1800"/>
              <a:buFont typeface="Calibri"/>
              <a:buNone/>
            </a:pPr>
            <a:r>
              <a:rPr b="1" i="0" lang="fr" sz="1800" u="none" cap="none" strike="noStrike">
                <a:solidFill>
                  <a:srgbClr val="2B2230"/>
                </a:solidFill>
                <a:latin typeface="Calibri"/>
                <a:ea typeface="Calibri"/>
                <a:cs typeface="Calibri"/>
                <a:sym typeface="Calibri"/>
              </a:rPr>
              <a:t>Déposer</a:t>
            </a:r>
            <a:endParaRPr b="0" i="0" sz="1800" u="none" cap="none" strike="noStrike">
              <a:solidFill>
                <a:schemeClr val="dk1"/>
              </a:solidFill>
              <a:latin typeface="Calibri"/>
              <a:ea typeface="Calibri"/>
              <a:cs typeface="Calibri"/>
              <a:sym typeface="Calibri"/>
            </a:endParaRPr>
          </a:p>
        </p:txBody>
      </p:sp>
      <p:sp>
        <p:nvSpPr>
          <p:cNvPr id="75" name="Google Shape;75;p19"/>
          <p:cNvSpPr txBox="1"/>
          <p:nvPr/>
        </p:nvSpPr>
        <p:spPr>
          <a:xfrm>
            <a:off x="621792" y="1920240"/>
            <a:ext cx="2231136"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0" i="0" lang="fr" sz="1300" u="none" cap="none" strike="noStrike">
                <a:solidFill>
                  <a:srgbClr val="2B2230"/>
                </a:solidFill>
                <a:latin typeface="Calibri"/>
                <a:ea typeface="Calibri"/>
                <a:cs typeface="Calibri"/>
                <a:sym typeface="Calibri"/>
              </a:rPr>
              <a:t>Un fichier jusqu’à 1 Go, avec un mot de passe et une durée en option</a:t>
            </a:r>
            <a:endParaRPr b="0" i="0" sz="1300" u="none" cap="none" strike="noStrike">
              <a:solidFill>
                <a:schemeClr val="dk1"/>
              </a:solidFill>
              <a:latin typeface="Calibri"/>
              <a:ea typeface="Calibri"/>
              <a:cs typeface="Calibri"/>
              <a:sym typeface="Calibri"/>
            </a:endParaRPr>
          </a:p>
        </p:txBody>
      </p:sp>
      <p:cxnSp>
        <p:nvCxnSpPr>
          <p:cNvPr id="76" name="Google Shape;76;p19"/>
          <p:cNvCxnSpPr/>
          <p:nvPr/>
        </p:nvCxnSpPr>
        <p:spPr>
          <a:xfrm>
            <a:off x="3054096" y="1984248"/>
            <a:ext cx="201168" cy="0"/>
          </a:xfrm>
          <a:prstGeom prst="straightConnector1">
            <a:avLst/>
          </a:prstGeom>
          <a:noFill/>
          <a:ln cap="flat" cmpd="sng" w="19050">
            <a:solidFill>
              <a:srgbClr val="8A8291"/>
            </a:solidFill>
            <a:prstDash val="solid"/>
            <a:round/>
            <a:headEnd len="sm" w="sm" type="none"/>
            <a:tailEnd len="med" w="med" type="triangle"/>
          </a:ln>
        </p:spPr>
      </p:cxnSp>
      <p:sp>
        <p:nvSpPr>
          <p:cNvPr id="77" name="Google Shape;77;p19"/>
          <p:cNvSpPr/>
          <p:nvPr/>
        </p:nvSpPr>
        <p:spPr>
          <a:xfrm>
            <a:off x="3291840" y="1188720"/>
            <a:ext cx="2560320" cy="1600200"/>
          </a:xfrm>
          <a:prstGeom prst="roundRect">
            <a:avLst>
              <a:gd fmla="val 4571"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9"/>
          <p:cNvSpPr/>
          <p:nvPr/>
        </p:nvSpPr>
        <p:spPr>
          <a:xfrm>
            <a:off x="3456432" y="1335024"/>
            <a:ext cx="457200" cy="457200"/>
          </a:xfrm>
          <a:prstGeom prst="ellipse">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9"/>
          <p:cNvSpPr txBox="1"/>
          <p:nvPr/>
        </p:nvSpPr>
        <p:spPr>
          <a:xfrm>
            <a:off x="3456432" y="133502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fr" sz="1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80" name="Google Shape;80;p19"/>
          <p:cNvSpPr txBox="1"/>
          <p:nvPr/>
        </p:nvSpPr>
        <p:spPr>
          <a:xfrm>
            <a:off x="4041648" y="1335024"/>
            <a:ext cx="1645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230"/>
              </a:buClr>
              <a:buSzPts val="1800"/>
              <a:buFont typeface="Calibri"/>
              <a:buNone/>
            </a:pPr>
            <a:r>
              <a:rPr b="1" i="0" lang="fr" sz="1800" u="none" cap="none" strike="noStrike">
                <a:solidFill>
                  <a:srgbClr val="2B2230"/>
                </a:solidFill>
                <a:latin typeface="Calibri"/>
                <a:ea typeface="Calibri"/>
                <a:cs typeface="Calibri"/>
                <a:sym typeface="Calibri"/>
              </a:rPr>
              <a:t>Partager</a:t>
            </a:r>
            <a:endParaRPr b="0" i="0" sz="1800" u="none" cap="none" strike="noStrike">
              <a:solidFill>
                <a:schemeClr val="dk1"/>
              </a:solidFill>
              <a:latin typeface="Calibri"/>
              <a:ea typeface="Calibri"/>
              <a:cs typeface="Calibri"/>
              <a:sym typeface="Calibri"/>
            </a:endParaRPr>
          </a:p>
        </p:txBody>
      </p:sp>
      <p:sp>
        <p:nvSpPr>
          <p:cNvPr id="81" name="Google Shape;81;p19"/>
          <p:cNvSpPr txBox="1"/>
          <p:nvPr/>
        </p:nvSpPr>
        <p:spPr>
          <a:xfrm>
            <a:off x="3456432" y="1920240"/>
            <a:ext cx="2231136"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0" i="0" lang="fr" sz="1300" u="none" cap="none" strike="noStrike">
                <a:solidFill>
                  <a:srgbClr val="2B2230"/>
                </a:solidFill>
                <a:latin typeface="Calibri"/>
                <a:ea typeface="Calibri"/>
                <a:cs typeface="Calibri"/>
                <a:sym typeface="Calibri"/>
              </a:rPr>
              <a:t>Un lien unique, non devinable, valable de 1 à 7 jours</a:t>
            </a:r>
            <a:endParaRPr b="0" i="0" sz="1300" u="none" cap="none" strike="noStrike">
              <a:solidFill>
                <a:schemeClr val="dk1"/>
              </a:solidFill>
              <a:latin typeface="Calibri"/>
              <a:ea typeface="Calibri"/>
              <a:cs typeface="Calibri"/>
              <a:sym typeface="Calibri"/>
            </a:endParaRPr>
          </a:p>
        </p:txBody>
      </p:sp>
      <p:cxnSp>
        <p:nvCxnSpPr>
          <p:cNvPr id="82" name="Google Shape;82;p19"/>
          <p:cNvCxnSpPr/>
          <p:nvPr/>
        </p:nvCxnSpPr>
        <p:spPr>
          <a:xfrm>
            <a:off x="5888736" y="1984248"/>
            <a:ext cx="201168" cy="0"/>
          </a:xfrm>
          <a:prstGeom prst="straightConnector1">
            <a:avLst/>
          </a:prstGeom>
          <a:noFill/>
          <a:ln cap="flat" cmpd="sng" w="19050">
            <a:solidFill>
              <a:srgbClr val="8A8291"/>
            </a:solidFill>
            <a:prstDash val="solid"/>
            <a:round/>
            <a:headEnd len="sm" w="sm" type="none"/>
            <a:tailEnd len="med" w="med" type="triangle"/>
          </a:ln>
        </p:spPr>
      </p:cxnSp>
      <p:sp>
        <p:nvSpPr>
          <p:cNvPr id="83" name="Google Shape;83;p19"/>
          <p:cNvSpPr/>
          <p:nvPr/>
        </p:nvSpPr>
        <p:spPr>
          <a:xfrm>
            <a:off x="6126480" y="1188720"/>
            <a:ext cx="2560320" cy="1600200"/>
          </a:xfrm>
          <a:prstGeom prst="roundRect">
            <a:avLst>
              <a:gd fmla="val 4571"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9"/>
          <p:cNvSpPr/>
          <p:nvPr/>
        </p:nvSpPr>
        <p:spPr>
          <a:xfrm>
            <a:off x="6291072" y="1335024"/>
            <a:ext cx="457200" cy="457200"/>
          </a:xfrm>
          <a:prstGeom prst="ellipse">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9"/>
          <p:cNvSpPr txBox="1"/>
          <p:nvPr/>
        </p:nvSpPr>
        <p:spPr>
          <a:xfrm>
            <a:off x="6291072" y="133502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fr" sz="1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86" name="Google Shape;86;p19"/>
          <p:cNvSpPr txBox="1"/>
          <p:nvPr/>
        </p:nvSpPr>
        <p:spPr>
          <a:xfrm>
            <a:off x="6876288" y="1335024"/>
            <a:ext cx="1645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230"/>
              </a:buClr>
              <a:buSzPts val="1800"/>
              <a:buFont typeface="Calibri"/>
              <a:buNone/>
            </a:pPr>
            <a:r>
              <a:rPr b="1" i="0" lang="fr" sz="1800" u="none" cap="none" strike="noStrike">
                <a:solidFill>
                  <a:srgbClr val="2B2230"/>
                </a:solidFill>
                <a:latin typeface="Calibri"/>
                <a:ea typeface="Calibri"/>
                <a:cs typeface="Calibri"/>
                <a:sym typeface="Calibri"/>
              </a:rPr>
              <a:t>Télécharger</a:t>
            </a:r>
            <a:endParaRPr b="0" i="0" sz="1800" u="none" cap="none" strike="noStrike">
              <a:solidFill>
                <a:schemeClr val="dk1"/>
              </a:solidFill>
              <a:latin typeface="Calibri"/>
              <a:ea typeface="Calibri"/>
              <a:cs typeface="Calibri"/>
              <a:sym typeface="Calibri"/>
            </a:endParaRPr>
          </a:p>
        </p:txBody>
      </p:sp>
      <p:sp>
        <p:nvSpPr>
          <p:cNvPr id="87" name="Google Shape;87;p19"/>
          <p:cNvSpPr txBox="1"/>
          <p:nvPr/>
        </p:nvSpPr>
        <p:spPr>
          <a:xfrm>
            <a:off x="6291072" y="1920240"/>
            <a:ext cx="2231136"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0" i="0" lang="fr" sz="1300" u="none" cap="none" strike="noStrike">
                <a:solidFill>
                  <a:srgbClr val="2B2230"/>
                </a:solidFill>
                <a:latin typeface="Calibri"/>
                <a:ea typeface="Calibri"/>
                <a:cs typeface="Calibri"/>
                <a:sym typeface="Calibri"/>
              </a:rPr>
              <a:t>Sans compte ; le mot de passe est demandé si le fichier est protégé</a:t>
            </a:r>
            <a:endParaRPr b="0" i="0" sz="1300" u="none" cap="none" strike="noStrike">
              <a:solidFill>
                <a:schemeClr val="dk1"/>
              </a:solidFill>
              <a:latin typeface="Calibri"/>
              <a:ea typeface="Calibri"/>
              <a:cs typeface="Calibri"/>
              <a:sym typeface="Calibri"/>
            </a:endParaRPr>
          </a:p>
        </p:txBody>
      </p:sp>
      <p:sp>
        <p:nvSpPr>
          <p:cNvPr id="88" name="Google Shape;88;p19"/>
          <p:cNvSpPr txBox="1"/>
          <p:nvPr/>
        </p:nvSpPr>
        <p:spPr>
          <a:xfrm>
            <a:off x="457200" y="3063240"/>
            <a:ext cx="82296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600"/>
              <a:buFont typeface="Calibri"/>
              <a:buNone/>
            </a:pPr>
            <a:r>
              <a:rPr b="1" i="0" lang="fr" sz="1600" u="none" cap="none" strike="noStrike">
                <a:solidFill>
                  <a:srgbClr val="2B2230"/>
                </a:solidFill>
                <a:latin typeface="Calibri"/>
                <a:ea typeface="Calibri"/>
                <a:cs typeface="Calibri"/>
                <a:sym typeface="Calibri"/>
              </a:rPr>
              <a:t>Deux publics</a:t>
            </a:r>
            <a:endParaRPr b="0" i="0" sz="1600" u="none" cap="none" strike="noStrike">
              <a:solidFill>
                <a:schemeClr val="dk1"/>
              </a:solidFill>
              <a:latin typeface="Calibri"/>
              <a:ea typeface="Calibri"/>
              <a:cs typeface="Calibri"/>
              <a:sym typeface="Calibri"/>
            </a:endParaRPr>
          </a:p>
        </p:txBody>
      </p:sp>
      <p:sp>
        <p:nvSpPr>
          <p:cNvPr id="89" name="Google Shape;89;p19"/>
          <p:cNvSpPr/>
          <p:nvPr/>
        </p:nvSpPr>
        <p:spPr>
          <a:xfrm>
            <a:off x="457200" y="3474720"/>
            <a:ext cx="3977640" cy="1097280"/>
          </a:xfrm>
          <a:prstGeom prst="roundRect">
            <a:avLst>
              <a:gd fmla="val 6667"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9"/>
          <p:cNvSpPr txBox="1"/>
          <p:nvPr/>
        </p:nvSpPr>
        <p:spPr>
          <a:xfrm>
            <a:off x="621792" y="3602736"/>
            <a:ext cx="364845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500"/>
              <a:buFont typeface="Calibri"/>
              <a:buNone/>
            </a:pPr>
            <a:r>
              <a:rPr b="1" i="0" lang="fr" sz="1500" u="none" cap="none" strike="noStrike">
                <a:solidFill>
                  <a:srgbClr val="C8414B"/>
                </a:solidFill>
                <a:latin typeface="Calibri"/>
                <a:ea typeface="Calibri"/>
                <a:cs typeface="Calibri"/>
                <a:sym typeface="Calibri"/>
              </a:rPr>
              <a:t>Visiteur</a:t>
            </a:r>
            <a:endParaRPr b="0" i="0" sz="1500" u="none" cap="none" strike="noStrike">
              <a:solidFill>
                <a:schemeClr val="dk1"/>
              </a:solidFill>
              <a:latin typeface="Calibri"/>
              <a:ea typeface="Calibri"/>
              <a:cs typeface="Calibri"/>
              <a:sym typeface="Calibri"/>
            </a:endParaRPr>
          </a:p>
        </p:txBody>
      </p:sp>
      <p:sp>
        <p:nvSpPr>
          <p:cNvPr id="91" name="Google Shape;91;p19"/>
          <p:cNvSpPr txBox="1"/>
          <p:nvPr/>
        </p:nvSpPr>
        <p:spPr>
          <a:xfrm>
            <a:off x="621792" y="3931920"/>
            <a:ext cx="3648456"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0" i="0" lang="fr" sz="1300" u="none" cap="none" strike="noStrike">
                <a:solidFill>
                  <a:srgbClr val="2B2230"/>
                </a:solidFill>
                <a:latin typeface="Calibri"/>
                <a:ea typeface="Calibri"/>
                <a:cs typeface="Calibri"/>
                <a:sym typeface="Calibri"/>
              </a:rPr>
              <a:t>Dépose un fichier et télécharge par lien, sans créer de compte</a:t>
            </a:r>
            <a:endParaRPr b="0" i="0" sz="1300" u="none" cap="none" strike="noStrike">
              <a:solidFill>
                <a:schemeClr val="dk1"/>
              </a:solidFill>
              <a:latin typeface="Calibri"/>
              <a:ea typeface="Calibri"/>
              <a:cs typeface="Calibri"/>
              <a:sym typeface="Calibri"/>
            </a:endParaRPr>
          </a:p>
        </p:txBody>
      </p:sp>
      <p:sp>
        <p:nvSpPr>
          <p:cNvPr id="92" name="Google Shape;92;p19"/>
          <p:cNvSpPr/>
          <p:nvPr/>
        </p:nvSpPr>
        <p:spPr>
          <a:xfrm>
            <a:off x="4709160" y="3474720"/>
            <a:ext cx="3977640" cy="1097280"/>
          </a:xfrm>
          <a:prstGeom prst="roundRect">
            <a:avLst>
              <a:gd fmla="val 6667"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9"/>
          <p:cNvSpPr txBox="1"/>
          <p:nvPr/>
        </p:nvSpPr>
        <p:spPr>
          <a:xfrm>
            <a:off x="4873752" y="3602736"/>
            <a:ext cx="364845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500"/>
              <a:buFont typeface="Calibri"/>
              <a:buNone/>
            </a:pPr>
            <a:r>
              <a:rPr b="1" i="0" lang="fr" sz="1500" u="none" cap="none" strike="noStrike">
                <a:solidFill>
                  <a:srgbClr val="C8414B"/>
                </a:solidFill>
                <a:latin typeface="Calibri"/>
                <a:ea typeface="Calibri"/>
                <a:cs typeface="Calibri"/>
                <a:sym typeface="Calibri"/>
              </a:rPr>
              <a:t>Utilisateur connecté</a:t>
            </a:r>
            <a:endParaRPr b="0" i="0" sz="1500" u="none" cap="none" strike="noStrike">
              <a:solidFill>
                <a:schemeClr val="dk1"/>
              </a:solidFill>
              <a:latin typeface="Calibri"/>
              <a:ea typeface="Calibri"/>
              <a:cs typeface="Calibri"/>
              <a:sym typeface="Calibri"/>
            </a:endParaRPr>
          </a:p>
        </p:txBody>
      </p:sp>
      <p:sp>
        <p:nvSpPr>
          <p:cNvPr id="94" name="Google Shape;94;p19"/>
          <p:cNvSpPr txBox="1"/>
          <p:nvPr/>
        </p:nvSpPr>
        <p:spPr>
          <a:xfrm>
            <a:off x="4873752" y="3931920"/>
            <a:ext cx="3648456"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0" i="0" lang="fr" sz="1300" u="none" cap="none" strike="noStrike">
                <a:solidFill>
                  <a:srgbClr val="2B2230"/>
                </a:solidFill>
                <a:latin typeface="Calibri"/>
                <a:ea typeface="Calibri"/>
                <a:cs typeface="Calibri"/>
                <a:sym typeface="Calibri"/>
              </a:rPr>
              <a:t>Retrouve ses fichiers dans son espace, voit leur état et les supprime</a:t>
            </a:r>
            <a:endParaRPr b="0" i="0" sz="1300" u="none" cap="none" strike="noStrike">
              <a:solidFill>
                <a:schemeClr val="dk1"/>
              </a:solidFill>
              <a:latin typeface="Calibri"/>
              <a:ea typeface="Calibri"/>
              <a:cs typeface="Calibri"/>
              <a:sym typeface="Calibri"/>
            </a:endParaRPr>
          </a:p>
        </p:txBody>
      </p:sp>
      <p:sp>
        <p:nvSpPr>
          <p:cNvPr id="95" name="Google Shape;95;p19"/>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 sz="1000" u="none" cap="none" strike="noStrike">
                <a:solidFill>
                  <a:srgbClr val="8A8291"/>
                </a:solidFill>
                <a:latin typeface="Calibri"/>
                <a:ea typeface="Calibri"/>
                <a:cs typeface="Calibri"/>
                <a:sym typeface="Calibri"/>
              </a:rPr>
              <a:t>‹#›</a:t>
            </a:fld>
            <a:endParaRPr b="0" i="0" sz="1000" u="none" cap="none" strike="noStrike">
              <a:solidFill>
                <a:srgbClr val="8A829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457200" y="274320"/>
            <a:ext cx="8229600" cy="64008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2B2230"/>
              </a:buClr>
              <a:buSzPts val="3000"/>
              <a:buFont typeface="Calibri"/>
              <a:buNone/>
            </a:pPr>
            <a:r>
              <a:rPr b="1" lang="fr" sz="3000">
                <a:solidFill>
                  <a:srgbClr val="2B2230"/>
                </a:solidFill>
              </a:rPr>
              <a:t>Le MVP est complet, deux options sont livrées</a:t>
            </a:r>
            <a:endParaRPr sz="3000"/>
          </a:p>
        </p:txBody>
      </p:sp>
      <p:sp>
        <p:nvSpPr>
          <p:cNvPr id="102" name="Google Shape;102;p20"/>
          <p:cNvSpPr/>
          <p:nvPr/>
        </p:nvSpPr>
        <p:spPr>
          <a:xfrm>
            <a:off x="457200" y="1188720"/>
            <a:ext cx="1554480" cy="1143000"/>
          </a:xfrm>
          <a:prstGeom prst="roundRect">
            <a:avLst>
              <a:gd fmla="val 6400" name="adj"/>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0"/>
          <p:cNvSpPr txBox="1"/>
          <p:nvPr/>
        </p:nvSpPr>
        <p:spPr>
          <a:xfrm>
            <a:off x="585216" y="1298448"/>
            <a:ext cx="1298448"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fr" sz="1800" u="none" cap="none" strike="noStrike">
                <a:solidFill>
                  <a:srgbClr val="FFFFFF"/>
                </a:solidFill>
                <a:latin typeface="Calibri"/>
                <a:ea typeface="Calibri"/>
                <a:cs typeface="Calibri"/>
                <a:sym typeface="Calibri"/>
              </a:rPr>
              <a:t>US01</a:t>
            </a:r>
            <a:endParaRPr b="0" i="0" sz="1800" u="none" cap="none" strike="noStrike">
              <a:solidFill>
                <a:schemeClr val="dk1"/>
              </a:solidFill>
              <a:latin typeface="Calibri"/>
              <a:ea typeface="Calibri"/>
              <a:cs typeface="Calibri"/>
              <a:sym typeface="Calibri"/>
            </a:endParaRPr>
          </a:p>
        </p:txBody>
      </p:sp>
      <p:sp>
        <p:nvSpPr>
          <p:cNvPr id="104" name="Google Shape;104;p20"/>
          <p:cNvSpPr txBox="1"/>
          <p:nvPr/>
        </p:nvSpPr>
        <p:spPr>
          <a:xfrm>
            <a:off x="585216" y="1645920"/>
            <a:ext cx="1298448"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fr" sz="1200" u="none" cap="none" strike="noStrike">
                <a:solidFill>
                  <a:srgbClr val="FFFFFF"/>
                </a:solidFill>
                <a:latin typeface="Calibri"/>
                <a:ea typeface="Calibri"/>
                <a:cs typeface="Calibri"/>
                <a:sym typeface="Calibri"/>
              </a:rPr>
              <a:t>Upload</a:t>
            </a:r>
            <a:endParaRPr b="0" i="0" sz="1200" u="none" cap="none" strike="noStrike">
              <a:solidFill>
                <a:schemeClr val="dk1"/>
              </a:solidFill>
              <a:latin typeface="Calibri"/>
              <a:ea typeface="Calibri"/>
              <a:cs typeface="Calibri"/>
              <a:sym typeface="Calibri"/>
            </a:endParaRPr>
          </a:p>
        </p:txBody>
      </p:sp>
      <p:sp>
        <p:nvSpPr>
          <p:cNvPr id="105" name="Google Shape;105;p20"/>
          <p:cNvSpPr/>
          <p:nvPr/>
        </p:nvSpPr>
        <p:spPr>
          <a:xfrm>
            <a:off x="2121408" y="1188720"/>
            <a:ext cx="1554480" cy="1143000"/>
          </a:xfrm>
          <a:prstGeom prst="roundRect">
            <a:avLst>
              <a:gd fmla="val 6400" name="adj"/>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0"/>
          <p:cNvSpPr txBox="1"/>
          <p:nvPr/>
        </p:nvSpPr>
        <p:spPr>
          <a:xfrm>
            <a:off x="2249424" y="1298448"/>
            <a:ext cx="1298448"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fr" sz="1800" u="none" cap="none" strike="noStrike">
                <a:solidFill>
                  <a:srgbClr val="FFFFFF"/>
                </a:solidFill>
                <a:latin typeface="Calibri"/>
                <a:ea typeface="Calibri"/>
                <a:cs typeface="Calibri"/>
                <a:sym typeface="Calibri"/>
              </a:rPr>
              <a:t>US02</a:t>
            </a:r>
            <a:endParaRPr b="0" i="0" sz="1800" u="none" cap="none" strike="noStrike">
              <a:solidFill>
                <a:schemeClr val="dk1"/>
              </a:solidFill>
              <a:latin typeface="Calibri"/>
              <a:ea typeface="Calibri"/>
              <a:cs typeface="Calibri"/>
              <a:sym typeface="Calibri"/>
            </a:endParaRPr>
          </a:p>
        </p:txBody>
      </p:sp>
      <p:sp>
        <p:nvSpPr>
          <p:cNvPr id="107" name="Google Shape;107;p20"/>
          <p:cNvSpPr txBox="1"/>
          <p:nvPr/>
        </p:nvSpPr>
        <p:spPr>
          <a:xfrm>
            <a:off x="2249424" y="1645920"/>
            <a:ext cx="1298448"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fr" sz="1200" u="none" cap="none" strike="noStrike">
                <a:solidFill>
                  <a:srgbClr val="FFFFFF"/>
                </a:solidFill>
                <a:latin typeface="Calibri"/>
                <a:ea typeface="Calibri"/>
                <a:cs typeface="Calibri"/>
                <a:sym typeface="Calibri"/>
              </a:rPr>
              <a:t>Téléchargement par lien</a:t>
            </a:r>
            <a:endParaRPr b="0" i="0" sz="1200" u="none" cap="none" strike="noStrike">
              <a:solidFill>
                <a:schemeClr val="dk1"/>
              </a:solidFill>
              <a:latin typeface="Calibri"/>
              <a:ea typeface="Calibri"/>
              <a:cs typeface="Calibri"/>
              <a:sym typeface="Calibri"/>
            </a:endParaRPr>
          </a:p>
        </p:txBody>
      </p:sp>
      <p:sp>
        <p:nvSpPr>
          <p:cNvPr id="108" name="Google Shape;108;p20"/>
          <p:cNvSpPr/>
          <p:nvPr/>
        </p:nvSpPr>
        <p:spPr>
          <a:xfrm>
            <a:off x="3785616" y="1188720"/>
            <a:ext cx="1554480" cy="1143000"/>
          </a:xfrm>
          <a:prstGeom prst="roundRect">
            <a:avLst>
              <a:gd fmla="val 6400" name="adj"/>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0"/>
          <p:cNvSpPr txBox="1"/>
          <p:nvPr/>
        </p:nvSpPr>
        <p:spPr>
          <a:xfrm>
            <a:off x="3913632" y="1298448"/>
            <a:ext cx="1298448"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fr" sz="1800" u="none" cap="none" strike="noStrike">
                <a:solidFill>
                  <a:srgbClr val="FFFFFF"/>
                </a:solidFill>
                <a:latin typeface="Calibri"/>
                <a:ea typeface="Calibri"/>
                <a:cs typeface="Calibri"/>
                <a:sym typeface="Calibri"/>
              </a:rPr>
              <a:t>US03</a:t>
            </a:r>
            <a:endParaRPr b="0" i="0" sz="1800" u="none" cap="none" strike="noStrike">
              <a:solidFill>
                <a:schemeClr val="dk1"/>
              </a:solidFill>
              <a:latin typeface="Calibri"/>
              <a:ea typeface="Calibri"/>
              <a:cs typeface="Calibri"/>
              <a:sym typeface="Calibri"/>
            </a:endParaRPr>
          </a:p>
        </p:txBody>
      </p:sp>
      <p:sp>
        <p:nvSpPr>
          <p:cNvPr id="110" name="Google Shape;110;p20"/>
          <p:cNvSpPr txBox="1"/>
          <p:nvPr/>
        </p:nvSpPr>
        <p:spPr>
          <a:xfrm>
            <a:off x="3913632" y="1645920"/>
            <a:ext cx="1298448"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fr" sz="1200" u="none" cap="none" strike="noStrike">
                <a:solidFill>
                  <a:srgbClr val="FFFFFF"/>
                </a:solidFill>
                <a:latin typeface="Calibri"/>
                <a:ea typeface="Calibri"/>
                <a:cs typeface="Calibri"/>
                <a:sym typeface="Calibri"/>
              </a:rPr>
              <a:t>Création de compte</a:t>
            </a:r>
            <a:endParaRPr b="0" i="0" sz="1200" u="none" cap="none" strike="noStrike">
              <a:solidFill>
                <a:schemeClr val="dk1"/>
              </a:solidFill>
              <a:latin typeface="Calibri"/>
              <a:ea typeface="Calibri"/>
              <a:cs typeface="Calibri"/>
              <a:sym typeface="Calibri"/>
            </a:endParaRPr>
          </a:p>
        </p:txBody>
      </p:sp>
      <p:sp>
        <p:nvSpPr>
          <p:cNvPr id="111" name="Google Shape;111;p20"/>
          <p:cNvSpPr/>
          <p:nvPr/>
        </p:nvSpPr>
        <p:spPr>
          <a:xfrm>
            <a:off x="5449824" y="1188720"/>
            <a:ext cx="1554480" cy="1143000"/>
          </a:xfrm>
          <a:prstGeom prst="roundRect">
            <a:avLst>
              <a:gd fmla="val 6400" name="adj"/>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0"/>
          <p:cNvSpPr txBox="1"/>
          <p:nvPr/>
        </p:nvSpPr>
        <p:spPr>
          <a:xfrm>
            <a:off x="5577840" y="1298448"/>
            <a:ext cx="1298448"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fr" sz="1800" u="none" cap="none" strike="noStrike">
                <a:solidFill>
                  <a:srgbClr val="FFFFFF"/>
                </a:solidFill>
                <a:latin typeface="Calibri"/>
                <a:ea typeface="Calibri"/>
                <a:cs typeface="Calibri"/>
                <a:sym typeface="Calibri"/>
              </a:rPr>
              <a:t>US04</a:t>
            </a:r>
            <a:endParaRPr b="0" i="0" sz="1800" u="none" cap="none" strike="noStrike">
              <a:solidFill>
                <a:schemeClr val="dk1"/>
              </a:solidFill>
              <a:latin typeface="Calibri"/>
              <a:ea typeface="Calibri"/>
              <a:cs typeface="Calibri"/>
              <a:sym typeface="Calibri"/>
            </a:endParaRPr>
          </a:p>
        </p:txBody>
      </p:sp>
      <p:sp>
        <p:nvSpPr>
          <p:cNvPr id="113" name="Google Shape;113;p20"/>
          <p:cNvSpPr txBox="1"/>
          <p:nvPr/>
        </p:nvSpPr>
        <p:spPr>
          <a:xfrm>
            <a:off x="5577840" y="1645920"/>
            <a:ext cx="1298448"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fr" sz="1200" u="none" cap="none" strike="noStrike">
                <a:solidFill>
                  <a:srgbClr val="FFFFFF"/>
                </a:solidFill>
                <a:latin typeface="Calibri"/>
                <a:ea typeface="Calibri"/>
                <a:cs typeface="Calibri"/>
                <a:sym typeface="Calibri"/>
              </a:rPr>
              <a:t>Connexion</a:t>
            </a:r>
            <a:endParaRPr b="0" i="0" sz="1200" u="none" cap="none" strike="noStrike">
              <a:solidFill>
                <a:schemeClr val="dk1"/>
              </a:solidFill>
              <a:latin typeface="Calibri"/>
              <a:ea typeface="Calibri"/>
              <a:cs typeface="Calibri"/>
              <a:sym typeface="Calibri"/>
            </a:endParaRPr>
          </a:p>
        </p:txBody>
      </p:sp>
      <p:sp>
        <p:nvSpPr>
          <p:cNvPr id="114" name="Google Shape;114;p20"/>
          <p:cNvSpPr/>
          <p:nvPr/>
        </p:nvSpPr>
        <p:spPr>
          <a:xfrm>
            <a:off x="7114032" y="1188720"/>
            <a:ext cx="1554480" cy="1143000"/>
          </a:xfrm>
          <a:prstGeom prst="roundRect">
            <a:avLst>
              <a:gd fmla="val 6400" name="adj"/>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0"/>
          <p:cNvSpPr txBox="1"/>
          <p:nvPr/>
        </p:nvSpPr>
        <p:spPr>
          <a:xfrm>
            <a:off x="7242048" y="1298448"/>
            <a:ext cx="1298448"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fr" sz="1800" u="none" cap="none" strike="noStrike">
                <a:solidFill>
                  <a:srgbClr val="FFFFFF"/>
                </a:solidFill>
                <a:latin typeface="Calibri"/>
                <a:ea typeface="Calibri"/>
                <a:cs typeface="Calibri"/>
                <a:sym typeface="Calibri"/>
              </a:rPr>
              <a:t>US05</a:t>
            </a:r>
            <a:endParaRPr b="0" i="0" sz="1800" u="none" cap="none" strike="noStrike">
              <a:solidFill>
                <a:schemeClr val="dk1"/>
              </a:solidFill>
              <a:latin typeface="Calibri"/>
              <a:ea typeface="Calibri"/>
              <a:cs typeface="Calibri"/>
              <a:sym typeface="Calibri"/>
            </a:endParaRPr>
          </a:p>
        </p:txBody>
      </p:sp>
      <p:sp>
        <p:nvSpPr>
          <p:cNvPr id="116" name="Google Shape;116;p20"/>
          <p:cNvSpPr txBox="1"/>
          <p:nvPr/>
        </p:nvSpPr>
        <p:spPr>
          <a:xfrm>
            <a:off x="7242048" y="1645920"/>
            <a:ext cx="1298448"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fr" sz="1200" u="none" cap="none" strike="noStrike">
                <a:solidFill>
                  <a:srgbClr val="FFFFFF"/>
                </a:solidFill>
                <a:latin typeface="Calibri"/>
                <a:ea typeface="Calibri"/>
                <a:cs typeface="Calibri"/>
                <a:sym typeface="Calibri"/>
              </a:rPr>
              <a:t>Historique</a:t>
            </a:r>
            <a:endParaRPr b="0" i="0" sz="1200" u="none" cap="none" strike="noStrike">
              <a:solidFill>
                <a:schemeClr val="dk1"/>
              </a:solidFill>
              <a:latin typeface="Calibri"/>
              <a:ea typeface="Calibri"/>
              <a:cs typeface="Calibri"/>
              <a:sym typeface="Calibri"/>
            </a:endParaRPr>
          </a:p>
        </p:txBody>
      </p:sp>
      <p:sp>
        <p:nvSpPr>
          <p:cNvPr id="117" name="Google Shape;117;p20"/>
          <p:cNvSpPr/>
          <p:nvPr/>
        </p:nvSpPr>
        <p:spPr>
          <a:xfrm>
            <a:off x="457200" y="2514600"/>
            <a:ext cx="1554480" cy="1143000"/>
          </a:xfrm>
          <a:prstGeom prst="roundRect">
            <a:avLst>
              <a:gd fmla="val 6400" name="adj"/>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txBox="1"/>
          <p:nvPr/>
        </p:nvSpPr>
        <p:spPr>
          <a:xfrm>
            <a:off x="585216" y="2624328"/>
            <a:ext cx="1298448"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fr" sz="1800" u="none" cap="none" strike="noStrike">
                <a:solidFill>
                  <a:srgbClr val="FFFFFF"/>
                </a:solidFill>
                <a:latin typeface="Calibri"/>
                <a:ea typeface="Calibri"/>
                <a:cs typeface="Calibri"/>
                <a:sym typeface="Calibri"/>
              </a:rPr>
              <a:t>US06</a:t>
            </a:r>
            <a:endParaRPr b="0" i="0" sz="1800" u="none" cap="none" strike="noStrike">
              <a:solidFill>
                <a:schemeClr val="dk1"/>
              </a:solidFill>
              <a:latin typeface="Calibri"/>
              <a:ea typeface="Calibri"/>
              <a:cs typeface="Calibri"/>
              <a:sym typeface="Calibri"/>
            </a:endParaRPr>
          </a:p>
        </p:txBody>
      </p:sp>
      <p:sp>
        <p:nvSpPr>
          <p:cNvPr id="119" name="Google Shape;119;p20"/>
          <p:cNvSpPr txBox="1"/>
          <p:nvPr/>
        </p:nvSpPr>
        <p:spPr>
          <a:xfrm>
            <a:off x="585216" y="2971800"/>
            <a:ext cx="1298448"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fr" sz="1200" u="none" cap="none" strike="noStrike">
                <a:solidFill>
                  <a:srgbClr val="FFFFFF"/>
                </a:solidFill>
                <a:latin typeface="Calibri"/>
                <a:ea typeface="Calibri"/>
                <a:cs typeface="Calibri"/>
                <a:sym typeface="Calibri"/>
              </a:rPr>
              <a:t>Suppression</a:t>
            </a:r>
            <a:endParaRPr b="0" i="0" sz="1200" u="none" cap="none" strike="noStrike">
              <a:solidFill>
                <a:schemeClr val="dk1"/>
              </a:solidFill>
              <a:latin typeface="Calibri"/>
              <a:ea typeface="Calibri"/>
              <a:cs typeface="Calibri"/>
              <a:sym typeface="Calibri"/>
            </a:endParaRPr>
          </a:p>
        </p:txBody>
      </p:sp>
      <p:sp>
        <p:nvSpPr>
          <p:cNvPr id="120" name="Google Shape;120;p20"/>
          <p:cNvSpPr/>
          <p:nvPr/>
        </p:nvSpPr>
        <p:spPr>
          <a:xfrm>
            <a:off x="2121408" y="2514600"/>
            <a:ext cx="1554480" cy="1143000"/>
          </a:xfrm>
          <a:prstGeom prst="roundRect">
            <a:avLst>
              <a:gd fmla="val 6400" name="adj"/>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0"/>
          <p:cNvSpPr txBox="1"/>
          <p:nvPr/>
        </p:nvSpPr>
        <p:spPr>
          <a:xfrm>
            <a:off x="2249424" y="2624328"/>
            <a:ext cx="1298448"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fr" sz="1800" u="none" cap="none" strike="noStrike">
                <a:solidFill>
                  <a:srgbClr val="FFFFFF"/>
                </a:solidFill>
                <a:latin typeface="Calibri"/>
                <a:ea typeface="Calibri"/>
                <a:cs typeface="Calibri"/>
                <a:sym typeface="Calibri"/>
              </a:rPr>
              <a:t>US07</a:t>
            </a:r>
            <a:endParaRPr b="0" i="0" sz="1800" u="none" cap="none" strike="noStrike">
              <a:solidFill>
                <a:schemeClr val="dk1"/>
              </a:solidFill>
              <a:latin typeface="Calibri"/>
              <a:ea typeface="Calibri"/>
              <a:cs typeface="Calibri"/>
              <a:sym typeface="Calibri"/>
            </a:endParaRPr>
          </a:p>
        </p:txBody>
      </p:sp>
      <p:sp>
        <p:nvSpPr>
          <p:cNvPr id="122" name="Google Shape;122;p20"/>
          <p:cNvSpPr txBox="1"/>
          <p:nvPr/>
        </p:nvSpPr>
        <p:spPr>
          <a:xfrm>
            <a:off x="2249424" y="2971800"/>
            <a:ext cx="1298448"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fr" sz="1200" u="none" cap="none" strike="noStrike">
                <a:solidFill>
                  <a:srgbClr val="FFFFFF"/>
                </a:solidFill>
                <a:latin typeface="Calibri"/>
                <a:ea typeface="Calibri"/>
                <a:cs typeface="Calibri"/>
                <a:sym typeface="Calibri"/>
              </a:rPr>
              <a:t>Upload anonyme</a:t>
            </a:r>
            <a:endParaRPr b="0" i="0" sz="1200" u="none" cap="none" strike="noStrike">
              <a:solidFill>
                <a:schemeClr val="dk1"/>
              </a:solidFill>
              <a:latin typeface="Calibri"/>
              <a:ea typeface="Calibri"/>
              <a:cs typeface="Calibri"/>
              <a:sym typeface="Calibri"/>
            </a:endParaRPr>
          </a:p>
        </p:txBody>
      </p:sp>
      <p:sp>
        <p:nvSpPr>
          <p:cNvPr id="123" name="Google Shape;123;p20"/>
          <p:cNvSpPr/>
          <p:nvPr/>
        </p:nvSpPr>
        <p:spPr>
          <a:xfrm>
            <a:off x="3785616" y="2514600"/>
            <a:ext cx="1554480" cy="1143000"/>
          </a:xfrm>
          <a:prstGeom prst="roundRect">
            <a:avLst>
              <a:gd fmla="val 6400" name="adj"/>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0"/>
          <p:cNvSpPr txBox="1"/>
          <p:nvPr/>
        </p:nvSpPr>
        <p:spPr>
          <a:xfrm>
            <a:off x="3913632" y="2624328"/>
            <a:ext cx="1298448"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fr" sz="1800" u="none" cap="none" strike="noStrike">
                <a:solidFill>
                  <a:srgbClr val="FFFFFF"/>
                </a:solidFill>
                <a:latin typeface="Calibri"/>
                <a:ea typeface="Calibri"/>
                <a:cs typeface="Calibri"/>
                <a:sym typeface="Calibri"/>
              </a:rPr>
              <a:t>US09</a:t>
            </a:r>
            <a:endParaRPr b="0" i="0" sz="1800" u="none" cap="none" strike="noStrike">
              <a:solidFill>
                <a:schemeClr val="dk1"/>
              </a:solidFill>
              <a:latin typeface="Calibri"/>
              <a:ea typeface="Calibri"/>
              <a:cs typeface="Calibri"/>
              <a:sym typeface="Calibri"/>
            </a:endParaRPr>
          </a:p>
        </p:txBody>
      </p:sp>
      <p:sp>
        <p:nvSpPr>
          <p:cNvPr id="125" name="Google Shape;125;p20"/>
          <p:cNvSpPr txBox="1"/>
          <p:nvPr/>
        </p:nvSpPr>
        <p:spPr>
          <a:xfrm>
            <a:off x="3913632" y="2971800"/>
            <a:ext cx="1298448"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fr" sz="1200" u="none" cap="none" strike="noStrike">
                <a:solidFill>
                  <a:srgbClr val="FFFFFF"/>
                </a:solidFill>
                <a:latin typeface="Calibri"/>
                <a:ea typeface="Calibri"/>
                <a:cs typeface="Calibri"/>
                <a:sym typeface="Calibri"/>
              </a:rPr>
              <a:t>Mot de passe de fichier</a:t>
            </a:r>
            <a:endParaRPr b="0" i="0" sz="1200" u="none" cap="none" strike="noStrike">
              <a:solidFill>
                <a:schemeClr val="dk1"/>
              </a:solidFill>
              <a:latin typeface="Calibri"/>
              <a:ea typeface="Calibri"/>
              <a:cs typeface="Calibri"/>
              <a:sym typeface="Calibri"/>
            </a:endParaRPr>
          </a:p>
        </p:txBody>
      </p:sp>
      <p:sp>
        <p:nvSpPr>
          <p:cNvPr id="126" name="Google Shape;126;p20"/>
          <p:cNvSpPr/>
          <p:nvPr/>
        </p:nvSpPr>
        <p:spPr>
          <a:xfrm>
            <a:off x="5449824" y="2514600"/>
            <a:ext cx="1554480" cy="1143000"/>
          </a:xfrm>
          <a:prstGeom prst="roundRect">
            <a:avLst>
              <a:gd fmla="val 6400" name="adj"/>
            </a:avLst>
          </a:prstGeom>
          <a:solidFill>
            <a:srgbClr val="E3783C"/>
          </a:solidFill>
          <a:ln cap="flat" cmpd="sng" w="12700">
            <a:solidFill>
              <a:srgbClr val="E378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0"/>
          <p:cNvSpPr txBox="1"/>
          <p:nvPr/>
        </p:nvSpPr>
        <p:spPr>
          <a:xfrm>
            <a:off x="5577840" y="2624328"/>
            <a:ext cx="1298448"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fr" sz="1800" u="none" cap="none" strike="noStrike">
                <a:solidFill>
                  <a:srgbClr val="FFFFFF"/>
                </a:solidFill>
                <a:latin typeface="Calibri"/>
                <a:ea typeface="Calibri"/>
                <a:cs typeface="Calibri"/>
                <a:sym typeface="Calibri"/>
              </a:rPr>
              <a:t>US10</a:t>
            </a:r>
            <a:endParaRPr b="0" i="0" sz="1800" u="none" cap="none" strike="noStrike">
              <a:solidFill>
                <a:schemeClr val="dk1"/>
              </a:solidFill>
              <a:latin typeface="Calibri"/>
              <a:ea typeface="Calibri"/>
              <a:cs typeface="Calibri"/>
              <a:sym typeface="Calibri"/>
            </a:endParaRPr>
          </a:p>
        </p:txBody>
      </p:sp>
      <p:sp>
        <p:nvSpPr>
          <p:cNvPr id="128" name="Google Shape;128;p20"/>
          <p:cNvSpPr txBox="1"/>
          <p:nvPr/>
        </p:nvSpPr>
        <p:spPr>
          <a:xfrm>
            <a:off x="5577840" y="2971800"/>
            <a:ext cx="1298448"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fr" sz="1200" u="none" cap="none" strike="noStrike">
                <a:solidFill>
                  <a:srgbClr val="FFFFFF"/>
                </a:solidFill>
                <a:latin typeface="Calibri"/>
                <a:ea typeface="Calibri"/>
                <a:cs typeface="Calibri"/>
                <a:sym typeface="Calibri"/>
              </a:rPr>
              <a:t>Expiration : durée livrée, purge non réalisée</a:t>
            </a:r>
            <a:endParaRPr b="0" i="0" sz="1200" u="none" cap="none" strike="noStrike">
              <a:solidFill>
                <a:schemeClr val="dk1"/>
              </a:solidFill>
              <a:latin typeface="Calibri"/>
              <a:ea typeface="Calibri"/>
              <a:cs typeface="Calibri"/>
              <a:sym typeface="Calibri"/>
            </a:endParaRPr>
          </a:p>
        </p:txBody>
      </p:sp>
      <p:sp>
        <p:nvSpPr>
          <p:cNvPr id="129" name="Google Shape;129;p20"/>
          <p:cNvSpPr/>
          <p:nvPr/>
        </p:nvSpPr>
        <p:spPr>
          <a:xfrm>
            <a:off x="7114032" y="2514600"/>
            <a:ext cx="1554480" cy="1143000"/>
          </a:xfrm>
          <a:prstGeom prst="roundRect">
            <a:avLst>
              <a:gd fmla="val 6400" name="adj"/>
            </a:avLst>
          </a:prstGeom>
          <a:solidFill>
            <a:srgbClr val="E5E4E7"/>
          </a:solidFill>
          <a:ln cap="flat" cmpd="sng" w="12700">
            <a:solidFill>
              <a:srgbClr val="E5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0"/>
          <p:cNvSpPr txBox="1"/>
          <p:nvPr/>
        </p:nvSpPr>
        <p:spPr>
          <a:xfrm>
            <a:off x="7242048" y="2624328"/>
            <a:ext cx="1298448"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800"/>
              <a:buFont typeface="Calibri"/>
              <a:buNone/>
            </a:pPr>
            <a:r>
              <a:rPr b="1" i="0" lang="fr" sz="1800" u="none" cap="none" strike="noStrike">
                <a:solidFill>
                  <a:srgbClr val="2B2230"/>
                </a:solidFill>
                <a:latin typeface="Calibri"/>
                <a:ea typeface="Calibri"/>
                <a:cs typeface="Calibri"/>
                <a:sym typeface="Calibri"/>
              </a:rPr>
              <a:t>US08</a:t>
            </a:r>
            <a:endParaRPr b="0" i="0" sz="1800" u="none" cap="none" strike="noStrike">
              <a:solidFill>
                <a:schemeClr val="dk1"/>
              </a:solidFill>
              <a:latin typeface="Calibri"/>
              <a:ea typeface="Calibri"/>
              <a:cs typeface="Calibri"/>
              <a:sym typeface="Calibri"/>
            </a:endParaRPr>
          </a:p>
        </p:txBody>
      </p:sp>
      <p:sp>
        <p:nvSpPr>
          <p:cNvPr id="131" name="Google Shape;131;p20"/>
          <p:cNvSpPr txBox="1"/>
          <p:nvPr/>
        </p:nvSpPr>
        <p:spPr>
          <a:xfrm>
            <a:off x="7242048" y="2971800"/>
            <a:ext cx="1298448"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Tags : non réalisée</a:t>
            </a:r>
            <a:endParaRPr b="0" i="0" sz="1200" u="none" cap="none" strike="noStrike">
              <a:solidFill>
                <a:schemeClr val="dk1"/>
              </a:solidFill>
              <a:latin typeface="Calibri"/>
              <a:ea typeface="Calibri"/>
              <a:cs typeface="Calibri"/>
              <a:sym typeface="Calibri"/>
            </a:endParaRPr>
          </a:p>
        </p:txBody>
      </p:sp>
      <p:sp>
        <p:nvSpPr>
          <p:cNvPr id="132" name="Google Shape;132;p20"/>
          <p:cNvSpPr txBox="1"/>
          <p:nvPr/>
        </p:nvSpPr>
        <p:spPr>
          <a:xfrm>
            <a:off x="457200" y="393192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400"/>
              <a:buFont typeface="Calibri"/>
              <a:buNone/>
            </a:pPr>
            <a:r>
              <a:rPr b="0" i="0" lang="fr" sz="1400" u="none" cap="none" strike="noStrike">
                <a:solidFill>
                  <a:srgbClr val="2B2230"/>
                </a:solidFill>
                <a:latin typeface="Calibri"/>
                <a:ea typeface="Calibri"/>
                <a:cs typeface="Calibri"/>
                <a:sym typeface="Calibri"/>
              </a:rPr>
              <a:t>US01 à US06 : MVP obligatoire. US07 à US10 : fonctionnalités avancées optionnelles.</a:t>
            </a:r>
            <a:endParaRPr b="0" i="0" sz="1400" u="none" cap="none" strike="noStrike">
              <a:solidFill>
                <a:schemeClr val="dk1"/>
              </a:solidFill>
              <a:latin typeface="Calibri"/>
              <a:ea typeface="Calibri"/>
              <a:cs typeface="Calibri"/>
              <a:sym typeface="Calibri"/>
            </a:endParaRPr>
          </a:p>
        </p:txBody>
      </p:sp>
      <p:sp>
        <p:nvSpPr>
          <p:cNvPr id="133" name="Google Shape;133;p20"/>
          <p:cNvSpPr txBox="1"/>
          <p:nvPr/>
        </p:nvSpPr>
        <p:spPr>
          <a:xfrm>
            <a:off x="457200" y="4251960"/>
            <a:ext cx="76809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400"/>
              <a:buFont typeface="Calibri"/>
              <a:buNone/>
            </a:pPr>
            <a:r>
              <a:rPr b="1" i="0" lang="fr" sz="1400" u="none" cap="none" strike="noStrike">
                <a:solidFill>
                  <a:srgbClr val="C8414B"/>
                </a:solidFill>
                <a:latin typeface="Calibri"/>
                <a:ea typeface="Calibri"/>
                <a:cs typeface="Calibri"/>
                <a:sym typeface="Calibri"/>
              </a:rPr>
              <a:t>Arbitrage : les tests end-to-end, la couverture et la documentation, obligatoires, sont passés avant US08 et la purge.</a:t>
            </a:r>
            <a:endParaRPr b="0" i="0" sz="1400" u="none" cap="none" strike="noStrike">
              <a:solidFill>
                <a:schemeClr val="dk1"/>
              </a:solidFill>
              <a:latin typeface="Calibri"/>
              <a:ea typeface="Calibri"/>
              <a:cs typeface="Calibri"/>
              <a:sym typeface="Calibri"/>
            </a:endParaRPr>
          </a:p>
        </p:txBody>
      </p:sp>
      <p:sp>
        <p:nvSpPr>
          <p:cNvPr id="134" name="Google Shape;134;p20"/>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 sz="1000" u="none" cap="none" strike="noStrike">
                <a:solidFill>
                  <a:srgbClr val="8A8291"/>
                </a:solidFill>
                <a:latin typeface="Calibri"/>
                <a:ea typeface="Calibri"/>
                <a:cs typeface="Calibri"/>
                <a:sym typeface="Calibri"/>
              </a:rPr>
              <a:t>‹#›</a:t>
            </a:fld>
            <a:endParaRPr b="0" i="0" sz="1000" u="none" cap="none" strike="noStrike">
              <a:solidFill>
                <a:srgbClr val="8A829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457200" y="274320"/>
            <a:ext cx="8229600" cy="64008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2B2230"/>
              </a:buClr>
              <a:buSzPts val="3000"/>
              <a:buFont typeface="Calibri"/>
              <a:buNone/>
            </a:pPr>
            <a:r>
              <a:rPr b="1" lang="fr" sz="3000">
                <a:solidFill>
                  <a:srgbClr val="2B2230"/>
                </a:solidFill>
              </a:rPr>
              <a:t>Un seul langage pour </a:t>
            </a:r>
            <a:r>
              <a:rPr lang="fr"/>
              <a:t>simplifier la stack</a:t>
            </a:r>
            <a:endParaRPr sz="3000"/>
          </a:p>
        </p:txBody>
      </p:sp>
      <p:graphicFrame>
        <p:nvGraphicFramePr>
          <p:cNvPr id="141" name="Google Shape;141;p21"/>
          <p:cNvGraphicFramePr/>
          <p:nvPr/>
        </p:nvGraphicFramePr>
        <p:xfrm>
          <a:off x="457200" y="1143000"/>
          <a:ext cx="3000000" cy="3000000"/>
        </p:xfrm>
        <a:graphic>
          <a:graphicData uri="http://schemas.openxmlformats.org/drawingml/2006/table">
            <a:tbl>
              <a:tblPr>
                <a:noFill/>
                <a:tableStyleId>{183772D2-D8E0-4E67-9DB2-8791DCAE5FA2}</a:tableStyleId>
              </a:tblPr>
              <a:tblGrid>
                <a:gridCol w="1463050"/>
                <a:gridCol w="2103125"/>
                <a:gridCol w="2103125"/>
                <a:gridCol w="2560325"/>
              </a:tblGrid>
              <a:tr h="384050">
                <a:tc>
                  <a:txBody>
                    <a:bodyPr/>
                    <a:lstStyle/>
                    <a:p>
                      <a:pPr indent="0" lvl="0" marL="0" marR="0" rtl="0" algn="l">
                        <a:spcBef>
                          <a:spcPts val="0"/>
                        </a:spcBef>
                        <a:spcAft>
                          <a:spcPts val="0"/>
                        </a:spcAft>
                        <a:buClr>
                          <a:srgbClr val="FFFFFF"/>
                        </a:buClr>
                        <a:buSzPts val="1200"/>
                        <a:buFont typeface="Calibri"/>
                        <a:buNone/>
                      </a:pPr>
                      <a:r>
                        <a:rPr b="1" lang="fr" sz="1200" u="none" cap="none" strike="noStrike">
                          <a:solidFill>
                            <a:srgbClr val="FFFFFF"/>
                          </a:solidFill>
                        </a:rPr>
                        <a:t>Brique</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solidFill>
                      <a:srgbClr val="2B2230"/>
                    </a:solidFill>
                  </a:tcPr>
                </a:tc>
                <a:tc>
                  <a:txBody>
                    <a:bodyPr/>
                    <a:lstStyle/>
                    <a:p>
                      <a:pPr indent="0" lvl="0" marL="0" marR="0" rtl="0" algn="l">
                        <a:spcBef>
                          <a:spcPts val="0"/>
                        </a:spcBef>
                        <a:spcAft>
                          <a:spcPts val="0"/>
                        </a:spcAft>
                        <a:buClr>
                          <a:srgbClr val="FFFFFF"/>
                        </a:buClr>
                        <a:buSzPts val="1200"/>
                        <a:buFont typeface="Calibri"/>
                        <a:buNone/>
                      </a:pPr>
                      <a:r>
                        <a:rPr b="1" lang="fr" sz="1200" u="none" cap="none" strike="noStrike">
                          <a:solidFill>
                            <a:srgbClr val="FFFFFF"/>
                          </a:solidFill>
                        </a:rPr>
                        <a:t>Choix</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solidFill>
                      <a:srgbClr val="2B2230"/>
                    </a:solidFill>
                  </a:tcPr>
                </a:tc>
                <a:tc>
                  <a:txBody>
                    <a:bodyPr/>
                    <a:lstStyle/>
                    <a:p>
                      <a:pPr indent="0" lvl="0" marL="0" marR="0" rtl="0" algn="l">
                        <a:spcBef>
                          <a:spcPts val="0"/>
                        </a:spcBef>
                        <a:spcAft>
                          <a:spcPts val="0"/>
                        </a:spcAft>
                        <a:buClr>
                          <a:srgbClr val="FFFFFF"/>
                        </a:buClr>
                        <a:buSzPts val="1200"/>
                        <a:buFont typeface="Calibri"/>
                        <a:buNone/>
                      </a:pPr>
                      <a:r>
                        <a:rPr b="1" lang="fr" sz="1200" u="none" cap="none" strike="noStrike">
                          <a:solidFill>
                            <a:srgbClr val="FFFFFF"/>
                          </a:solidFill>
                        </a:rPr>
                        <a:t>Écarté</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solidFill>
                      <a:srgbClr val="2B2230"/>
                    </a:solidFill>
                  </a:tcPr>
                </a:tc>
                <a:tc>
                  <a:txBody>
                    <a:bodyPr/>
                    <a:lstStyle/>
                    <a:p>
                      <a:pPr indent="0" lvl="0" marL="0" marR="0" rtl="0" algn="l">
                        <a:spcBef>
                          <a:spcPts val="0"/>
                        </a:spcBef>
                        <a:spcAft>
                          <a:spcPts val="0"/>
                        </a:spcAft>
                        <a:buClr>
                          <a:srgbClr val="FFFFFF"/>
                        </a:buClr>
                        <a:buSzPts val="1200"/>
                        <a:buFont typeface="Calibri"/>
                        <a:buNone/>
                      </a:pPr>
                      <a:r>
                        <a:rPr b="1" lang="fr" sz="1200" u="none" cap="none" strike="noStrike">
                          <a:solidFill>
                            <a:srgbClr val="FFFFFF"/>
                          </a:solidFill>
                        </a:rPr>
                        <a:t>Pourquoi</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solidFill>
                      <a:srgbClr val="2B2230"/>
                    </a:solidFill>
                  </a:tcPr>
                </a:tc>
              </a:tr>
              <a:tr h="384050">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Back-end</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NestJS</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Spring Boot, .NET, Symfony</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Modules, validation et upload intégrés</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r>
              <a:tr h="384050">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Front-end</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React + Vite</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Angular, Vue</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Écosystème large, rechargement rapide</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r>
              <a:tr h="384050">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Données</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PostgreSQL + Prisma</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MongoDB</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Données relationnelles, unicité garantie</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r>
              <a:tr h="384050">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Authentification</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JWT + bcrypt</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Sessions, OAuth2</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Sans état côté serveur</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r>
              <a:tr h="384050">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Stockage</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Disque local</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AWS S3</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Aucun coût ; interface prête pour S3</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r>
              <a:tr h="384050">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Tests</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Vitest, Supertest, Cypress</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Jest, Playwright</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Même outil au front et au back</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r>
            </a:tbl>
          </a:graphicData>
        </a:graphic>
      </p:graphicFrame>
      <p:sp>
        <p:nvSpPr>
          <p:cNvPr id="142" name="Google Shape;142;p21"/>
          <p:cNvSpPr txBox="1"/>
          <p:nvPr/>
        </p:nvSpPr>
        <p:spPr>
          <a:xfrm>
            <a:off x="457200" y="4160520"/>
            <a:ext cx="8229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400"/>
              <a:buFont typeface="Calibri"/>
              <a:buNone/>
            </a:pPr>
            <a:r>
              <a:rPr b="1" i="0" lang="fr" sz="1400" u="none" cap="none" strike="noStrike">
                <a:solidFill>
                  <a:srgbClr val="C8414B"/>
                </a:solidFill>
                <a:latin typeface="Calibri"/>
                <a:ea typeface="Calibri"/>
                <a:cs typeface="Calibri"/>
                <a:sym typeface="Calibri"/>
              </a:rPr>
              <a:t>Refusés car inutiles à ce périmètre : Redux, librairie de composants, Husky.</a:t>
            </a:r>
            <a:endParaRPr b="0" i="0" sz="1400" u="none" cap="none" strike="noStrike">
              <a:solidFill>
                <a:schemeClr val="dk1"/>
              </a:solidFill>
              <a:latin typeface="Calibri"/>
              <a:ea typeface="Calibri"/>
              <a:cs typeface="Calibri"/>
              <a:sym typeface="Calibri"/>
            </a:endParaRPr>
          </a:p>
        </p:txBody>
      </p:sp>
      <p:sp>
        <p:nvSpPr>
          <p:cNvPr id="143" name="Google Shape;143;p21"/>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 sz="1000" u="none" cap="none" strike="noStrike">
                <a:solidFill>
                  <a:srgbClr val="8A8291"/>
                </a:solidFill>
                <a:latin typeface="Calibri"/>
                <a:ea typeface="Calibri"/>
                <a:cs typeface="Calibri"/>
                <a:sym typeface="Calibri"/>
              </a:rPr>
              <a:t>‹#›</a:t>
            </a:fld>
            <a:endParaRPr b="0" i="0" sz="1000" u="none" cap="none" strike="noStrike">
              <a:solidFill>
                <a:srgbClr val="8A829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2"/>
          <p:cNvSpPr txBox="1"/>
          <p:nvPr>
            <p:ph type="title"/>
          </p:nvPr>
        </p:nvSpPr>
        <p:spPr>
          <a:xfrm>
            <a:off x="457200" y="274320"/>
            <a:ext cx="8229600" cy="64008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2B2230"/>
              </a:buClr>
              <a:buSzPts val="3000"/>
              <a:buFont typeface="Calibri"/>
              <a:buNone/>
            </a:pPr>
            <a:r>
              <a:rPr lang="fr"/>
              <a:t>Architecture des systèmes</a:t>
            </a:r>
            <a:endParaRPr sz="3000"/>
          </a:p>
        </p:txBody>
      </p:sp>
      <p:sp>
        <p:nvSpPr>
          <p:cNvPr id="150" name="Google Shape;150;p22"/>
          <p:cNvSpPr/>
          <p:nvPr/>
        </p:nvSpPr>
        <p:spPr>
          <a:xfrm>
            <a:off x="457200" y="1737360"/>
            <a:ext cx="1920240" cy="1371600"/>
          </a:xfrm>
          <a:prstGeom prst="roundRect">
            <a:avLst>
              <a:gd fmla="val 5333"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2"/>
          <p:cNvSpPr txBox="1"/>
          <p:nvPr/>
        </p:nvSpPr>
        <p:spPr>
          <a:xfrm>
            <a:off x="566928" y="1847088"/>
            <a:ext cx="1700784" cy="29260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B2230"/>
              </a:buClr>
              <a:buSzPts val="1400"/>
              <a:buFont typeface="Calibri"/>
              <a:buNone/>
            </a:pPr>
            <a:r>
              <a:rPr b="1" i="0" lang="fr" sz="1400" u="none" cap="none" strike="noStrike">
                <a:solidFill>
                  <a:srgbClr val="2B2230"/>
                </a:solidFill>
                <a:latin typeface="Calibri"/>
                <a:ea typeface="Calibri"/>
                <a:cs typeface="Calibri"/>
                <a:sym typeface="Calibri"/>
              </a:rPr>
              <a:t>Navigateur</a:t>
            </a:r>
            <a:endParaRPr b="0" i="0" sz="1400" u="none" cap="none" strike="noStrike">
              <a:solidFill>
                <a:schemeClr val="dk1"/>
              </a:solidFill>
              <a:latin typeface="Calibri"/>
              <a:ea typeface="Calibri"/>
              <a:cs typeface="Calibri"/>
              <a:sym typeface="Calibri"/>
            </a:endParaRPr>
          </a:p>
        </p:txBody>
      </p:sp>
      <p:sp>
        <p:nvSpPr>
          <p:cNvPr id="152" name="Google Shape;152;p22"/>
          <p:cNvSpPr txBox="1"/>
          <p:nvPr/>
        </p:nvSpPr>
        <p:spPr>
          <a:xfrm>
            <a:off x="566928" y="2157984"/>
            <a:ext cx="1700784" cy="85953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React (Vite)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JWT conservé côté client</a:t>
            </a:r>
            <a:endParaRPr b="0" i="0" sz="1200" u="none" cap="none" strike="noStrike">
              <a:solidFill>
                <a:schemeClr val="dk1"/>
              </a:solidFill>
              <a:latin typeface="Calibri"/>
              <a:ea typeface="Calibri"/>
              <a:cs typeface="Calibri"/>
              <a:sym typeface="Calibri"/>
            </a:endParaRPr>
          </a:p>
        </p:txBody>
      </p:sp>
      <p:sp>
        <p:nvSpPr>
          <p:cNvPr id="153" name="Google Shape;153;p22"/>
          <p:cNvSpPr/>
          <p:nvPr/>
        </p:nvSpPr>
        <p:spPr>
          <a:xfrm>
            <a:off x="3383280" y="1234440"/>
            <a:ext cx="2377440" cy="2377440"/>
          </a:xfrm>
          <a:prstGeom prst="roundRect">
            <a:avLst>
              <a:gd fmla="val 3077" name="adj"/>
            </a:avLst>
          </a:prstGeom>
          <a:solidFill>
            <a:srgbClr val="2B2230"/>
          </a:solidFill>
          <a:ln cap="flat" cmpd="sng" w="12700">
            <a:solidFill>
              <a:srgbClr val="2B22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2"/>
          <p:cNvSpPr txBox="1"/>
          <p:nvPr/>
        </p:nvSpPr>
        <p:spPr>
          <a:xfrm>
            <a:off x="3493008" y="1344168"/>
            <a:ext cx="2157984" cy="29260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fr" sz="1400" u="none" cap="none" strike="noStrike">
                <a:solidFill>
                  <a:srgbClr val="FFFFFF"/>
                </a:solidFill>
                <a:latin typeface="Calibri"/>
                <a:ea typeface="Calibri"/>
                <a:cs typeface="Calibri"/>
                <a:sym typeface="Calibri"/>
              </a:rPr>
              <a:t>API REST — NestJS</a:t>
            </a:r>
            <a:endParaRPr b="0" i="0" sz="1400" u="none" cap="none" strike="noStrike">
              <a:solidFill>
                <a:schemeClr val="dk1"/>
              </a:solidFill>
              <a:latin typeface="Calibri"/>
              <a:ea typeface="Calibri"/>
              <a:cs typeface="Calibri"/>
              <a:sym typeface="Calibri"/>
            </a:endParaRPr>
          </a:p>
        </p:txBody>
      </p:sp>
      <p:sp>
        <p:nvSpPr>
          <p:cNvPr id="155" name="Google Shape;155;p22"/>
          <p:cNvSpPr txBox="1"/>
          <p:nvPr/>
        </p:nvSpPr>
        <p:spPr>
          <a:xfrm>
            <a:off x="3493008" y="1655064"/>
            <a:ext cx="2157984" cy="186537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56" name="Google Shape;156;p22"/>
          <p:cNvSpPr/>
          <p:nvPr/>
        </p:nvSpPr>
        <p:spPr>
          <a:xfrm>
            <a:off x="3566160" y="1783080"/>
            <a:ext cx="2011680" cy="731520"/>
          </a:xfrm>
          <a:prstGeom prst="roundRect">
            <a:avLst>
              <a:gd fmla="val 10000" name="adj"/>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2"/>
          <p:cNvSpPr txBox="1"/>
          <p:nvPr/>
        </p:nvSpPr>
        <p:spPr>
          <a:xfrm>
            <a:off x="3566160" y="1783080"/>
            <a:ext cx="20116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0" i="0" lang="fr" sz="1200" u="none" cap="none" strike="noStrike">
                <a:solidFill>
                  <a:srgbClr val="FFFFFF"/>
                </a:solidFill>
                <a:latin typeface="Calibri"/>
                <a:ea typeface="Calibri"/>
                <a:cs typeface="Calibri"/>
                <a:sym typeface="Calibri"/>
              </a:rPr>
              <a:t>AuthModule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0" i="0" lang="fr" sz="1200" u="none" cap="none" strike="noStrike">
                <a:solidFill>
                  <a:srgbClr val="FFFFFF"/>
                </a:solidFill>
                <a:latin typeface="Calibri"/>
                <a:ea typeface="Calibri"/>
                <a:cs typeface="Calibri"/>
                <a:sym typeface="Calibri"/>
              </a:rPr>
              <a:t>JWT + bcrypt</a:t>
            </a:r>
            <a:endParaRPr b="0" i="0" sz="1200" u="none" cap="none" strike="noStrike">
              <a:solidFill>
                <a:schemeClr val="dk1"/>
              </a:solidFill>
              <a:latin typeface="Calibri"/>
              <a:ea typeface="Calibri"/>
              <a:cs typeface="Calibri"/>
              <a:sym typeface="Calibri"/>
            </a:endParaRPr>
          </a:p>
        </p:txBody>
      </p:sp>
      <p:sp>
        <p:nvSpPr>
          <p:cNvPr id="158" name="Google Shape;158;p22"/>
          <p:cNvSpPr/>
          <p:nvPr/>
        </p:nvSpPr>
        <p:spPr>
          <a:xfrm>
            <a:off x="3566160" y="2651760"/>
            <a:ext cx="2011680" cy="731520"/>
          </a:xfrm>
          <a:prstGeom prst="roundRect">
            <a:avLst>
              <a:gd fmla="val 10000" name="adj"/>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2"/>
          <p:cNvSpPr txBox="1"/>
          <p:nvPr/>
        </p:nvSpPr>
        <p:spPr>
          <a:xfrm>
            <a:off x="3566160" y="2651760"/>
            <a:ext cx="20116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0" i="0" lang="fr" sz="1200" u="none" cap="none" strike="noStrike">
                <a:solidFill>
                  <a:srgbClr val="FFFFFF"/>
                </a:solidFill>
                <a:latin typeface="Calibri"/>
                <a:ea typeface="Calibri"/>
                <a:cs typeface="Calibri"/>
                <a:sym typeface="Calibri"/>
              </a:rPr>
              <a:t>FilesModule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0" i="0" lang="fr" sz="1200" u="none" cap="none" strike="noStrike">
                <a:solidFill>
                  <a:srgbClr val="FFFFFF"/>
                </a:solidFill>
                <a:latin typeface="Calibri"/>
                <a:ea typeface="Calibri"/>
                <a:cs typeface="Calibri"/>
                <a:sym typeface="Calibri"/>
              </a:rPr>
              <a:t>upload, lien, historique</a:t>
            </a:r>
            <a:endParaRPr b="0" i="0" sz="1200" u="none" cap="none" strike="noStrike">
              <a:solidFill>
                <a:schemeClr val="dk1"/>
              </a:solidFill>
              <a:latin typeface="Calibri"/>
              <a:ea typeface="Calibri"/>
              <a:cs typeface="Calibri"/>
              <a:sym typeface="Calibri"/>
            </a:endParaRPr>
          </a:p>
        </p:txBody>
      </p:sp>
      <p:sp>
        <p:nvSpPr>
          <p:cNvPr id="160" name="Google Shape;160;p22"/>
          <p:cNvSpPr/>
          <p:nvPr/>
        </p:nvSpPr>
        <p:spPr>
          <a:xfrm>
            <a:off x="6766560" y="1234440"/>
            <a:ext cx="1920240" cy="1051560"/>
          </a:xfrm>
          <a:prstGeom prst="roundRect">
            <a:avLst>
              <a:gd fmla="val 6957"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2"/>
          <p:cNvSpPr txBox="1"/>
          <p:nvPr/>
        </p:nvSpPr>
        <p:spPr>
          <a:xfrm>
            <a:off x="6876288" y="1344168"/>
            <a:ext cx="1700784" cy="29260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B2230"/>
              </a:buClr>
              <a:buSzPts val="1400"/>
              <a:buFont typeface="Calibri"/>
              <a:buNone/>
            </a:pPr>
            <a:r>
              <a:rPr b="1" i="0" lang="fr" sz="1400" u="none" cap="none" strike="noStrike">
                <a:solidFill>
                  <a:srgbClr val="2B2230"/>
                </a:solidFill>
                <a:latin typeface="Calibri"/>
                <a:ea typeface="Calibri"/>
                <a:cs typeface="Calibri"/>
                <a:sym typeface="Calibri"/>
              </a:rPr>
              <a:t>PostgreSQL</a:t>
            </a:r>
            <a:endParaRPr b="0" i="0" sz="1400" u="none" cap="none" strike="noStrike">
              <a:solidFill>
                <a:schemeClr val="dk1"/>
              </a:solidFill>
              <a:latin typeface="Calibri"/>
              <a:ea typeface="Calibri"/>
              <a:cs typeface="Calibri"/>
              <a:sym typeface="Calibri"/>
            </a:endParaRPr>
          </a:p>
        </p:txBody>
      </p:sp>
      <p:sp>
        <p:nvSpPr>
          <p:cNvPr id="162" name="Google Shape;162;p22"/>
          <p:cNvSpPr txBox="1"/>
          <p:nvPr/>
        </p:nvSpPr>
        <p:spPr>
          <a:xfrm>
            <a:off x="6876288" y="1655064"/>
            <a:ext cx="1700784" cy="53949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Utilisateurs, métadonnées</a:t>
            </a:r>
            <a:endParaRPr b="0" i="0" sz="1200" u="none" cap="none" strike="noStrike">
              <a:solidFill>
                <a:schemeClr val="dk1"/>
              </a:solidFill>
              <a:latin typeface="Calibri"/>
              <a:ea typeface="Calibri"/>
              <a:cs typeface="Calibri"/>
              <a:sym typeface="Calibri"/>
            </a:endParaRPr>
          </a:p>
        </p:txBody>
      </p:sp>
      <p:sp>
        <p:nvSpPr>
          <p:cNvPr id="163" name="Google Shape;163;p22"/>
          <p:cNvSpPr/>
          <p:nvPr/>
        </p:nvSpPr>
        <p:spPr>
          <a:xfrm>
            <a:off x="6766560" y="2560320"/>
            <a:ext cx="1920240" cy="1051560"/>
          </a:xfrm>
          <a:prstGeom prst="roundRect">
            <a:avLst>
              <a:gd fmla="val 6957"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2"/>
          <p:cNvSpPr txBox="1"/>
          <p:nvPr/>
        </p:nvSpPr>
        <p:spPr>
          <a:xfrm>
            <a:off x="6876288" y="2670048"/>
            <a:ext cx="1700784" cy="29260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B2230"/>
              </a:buClr>
              <a:buSzPts val="1400"/>
              <a:buFont typeface="Calibri"/>
              <a:buNone/>
            </a:pPr>
            <a:r>
              <a:rPr b="1" i="0" lang="fr" sz="1400" u="none" cap="none" strike="noStrike">
                <a:solidFill>
                  <a:srgbClr val="2B2230"/>
                </a:solidFill>
                <a:latin typeface="Calibri"/>
                <a:ea typeface="Calibri"/>
                <a:cs typeface="Calibri"/>
                <a:sym typeface="Calibri"/>
              </a:rPr>
              <a:t>Stockage</a:t>
            </a:r>
            <a:endParaRPr b="0" i="0" sz="1400" u="none" cap="none" strike="noStrike">
              <a:solidFill>
                <a:schemeClr val="dk1"/>
              </a:solidFill>
              <a:latin typeface="Calibri"/>
              <a:ea typeface="Calibri"/>
              <a:cs typeface="Calibri"/>
              <a:sym typeface="Calibri"/>
            </a:endParaRPr>
          </a:p>
        </p:txBody>
      </p:sp>
      <p:sp>
        <p:nvSpPr>
          <p:cNvPr id="165" name="Google Shape;165;p22"/>
          <p:cNvSpPr txBox="1"/>
          <p:nvPr/>
        </p:nvSpPr>
        <p:spPr>
          <a:xfrm>
            <a:off x="6876288" y="2980944"/>
            <a:ext cx="1700784" cy="53949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Fichiers sur disque</a:t>
            </a:r>
            <a:endParaRPr b="0" i="0" sz="1200" u="none" cap="none" strike="noStrike">
              <a:solidFill>
                <a:schemeClr val="dk1"/>
              </a:solidFill>
              <a:latin typeface="Calibri"/>
              <a:ea typeface="Calibri"/>
              <a:cs typeface="Calibri"/>
              <a:sym typeface="Calibri"/>
            </a:endParaRPr>
          </a:p>
        </p:txBody>
      </p:sp>
      <p:cxnSp>
        <p:nvCxnSpPr>
          <p:cNvPr id="166" name="Google Shape;166;p22"/>
          <p:cNvCxnSpPr/>
          <p:nvPr/>
        </p:nvCxnSpPr>
        <p:spPr>
          <a:xfrm>
            <a:off x="2423160" y="2423160"/>
            <a:ext cx="914400" cy="0"/>
          </a:xfrm>
          <a:prstGeom prst="straightConnector1">
            <a:avLst/>
          </a:prstGeom>
          <a:noFill/>
          <a:ln cap="flat" cmpd="sng" w="19050">
            <a:solidFill>
              <a:srgbClr val="8A8291"/>
            </a:solidFill>
            <a:prstDash val="solid"/>
            <a:round/>
            <a:headEnd len="sm" w="sm" type="none"/>
            <a:tailEnd len="med" w="med" type="triangle"/>
          </a:ln>
        </p:spPr>
      </p:cxnSp>
      <p:sp>
        <p:nvSpPr>
          <p:cNvPr id="167" name="Google Shape;167;p22"/>
          <p:cNvSpPr txBox="1"/>
          <p:nvPr/>
        </p:nvSpPr>
        <p:spPr>
          <a:xfrm>
            <a:off x="2377440" y="2103120"/>
            <a:ext cx="100584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E5566"/>
              </a:buClr>
              <a:buSzPts val="1100"/>
              <a:buFont typeface="Calibri"/>
              <a:buNone/>
            </a:pPr>
            <a:r>
              <a:rPr b="0" i="0" lang="fr" sz="1100" u="none" cap="none" strike="noStrike">
                <a:solidFill>
                  <a:srgbClr val="5E5566"/>
                </a:solidFill>
                <a:latin typeface="Calibri"/>
                <a:ea typeface="Calibri"/>
                <a:cs typeface="Calibri"/>
                <a:sym typeface="Calibri"/>
              </a:rPr>
              <a:t>HTTPS / JSON</a:t>
            </a:r>
            <a:endParaRPr b="0" i="0" sz="1100" u="none" cap="none" strike="noStrike">
              <a:solidFill>
                <a:schemeClr val="dk1"/>
              </a:solidFill>
              <a:latin typeface="Calibri"/>
              <a:ea typeface="Calibri"/>
              <a:cs typeface="Calibri"/>
              <a:sym typeface="Calibri"/>
            </a:endParaRPr>
          </a:p>
        </p:txBody>
      </p:sp>
      <p:sp>
        <p:nvSpPr>
          <p:cNvPr id="168" name="Google Shape;168;p22"/>
          <p:cNvSpPr txBox="1"/>
          <p:nvPr/>
        </p:nvSpPr>
        <p:spPr>
          <a:xfrm>
            <a:off x="2377440" y="2487168"/>
            <a:ext cx="100584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E5566"/>
              </a:buClr>
              <a:buSzPts val="1100"/>
              <a:buFont typeface="Calibri"/>
              <a:buNone/>
            </a:pPr>
            <a:r>
              <a:rPr b="0" i="0" lang="fr" sz="1100" u="none" cap="none" strike="noStrike">
                <a:solidFill>
                  <a:srgbClr val="5E5566"/>
                </a:solidFill>
                <a:latin typeface="Calibri"/>
                <a:ea typeface="Calibri"/>
                <a:cs typeface="Calibri"/>
                <a:sym typeface="Calibri"/>
              </a:rPr>
              <a:t>Bearer JWT</a:t>
            </a:r>
            <a:endParaRPr b="0" i="0" sz="1100" u="none" cap="none" strike="noStrike">
              <a:solidFill>
                <a:schemeClr val="dk1"/>
              </a:solidFill>
              <a:latin typeface="Calibri"/>
              <a:ea typeface="Calibri"/>
              <a:cs typeface="Calibri"/>
              <a:sym typeface="Calibri"/>
            </a:endParaRPr>
          </a:p>
        </p:txBody>
      </p:sp>
      <p:cxnSp>
        <p:nvCxnSpPr>
          <p:cNvPr id="169" name="Google Shape;169;p22"/>
          <p:cNvCxnSpPr/>
          <p:nvPr/>
        </p:nvCxnSpPr>
        <p:spPr>
          <a:xfrm>
            <a:off x="5806440" y="1783080"/>
            <a:ext cx="914400" cy="0"/>
          </a:xfrm>
          <a:prstGeom prst="straightConnector1">
            <a:avLst/>
          </a:prstGeom>
          <a:noFill/>
          <a:ln cap="flat" cmpd="sng" w="19050">
            <a:solidFill>
              <a:srgbClr val="8A8291"/>
            </a:solidFill>
            <a:prstDash val="solid"/>
            <a:round/>
            <a:headEnd len="sm" w="sm" type="none"/>
            <a:tailEnd len="med" w="med" type="triangle"/>
          </a:ln>
        </p:spPr>
      </p:cxnSp>
      <p:sp>
        <p:nvSpPr>
          <p:cNvPr id="170" name="Google Shape;170;p22"/>
          <p:cNvSpPr txBox="1"/>
          <p:nvPr/>
        </p:nvSpPr>
        <p:spPr>
          <a:xfrm>
            <a:off x="5806440" y="1481328"/>
            <a:ext cx="9144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E5566"/>
              </a:buClr>
              <a:buSzPts val="1100"/>
              <a:buFont typeface="Calibri"/>
              <a:buNone/>
            </a:pPr>
            <a:r>
              <a:rPr b="0" i="0" lang="fr" sz="1100" u="none" cap="none" strike="noStrike">
                <a:solidFill>
                  <a:srgbClr val="5E5566"/>
                </a:solidFill>
                <a:latin typeface="Calibri"/>
                <a:ea typeface="Calibri"/>
                <a:cs typeface="Calibri"/>
                <a:sym typeface="Calibri"/>
              </a:rPr>
              <a:t>Prisma</a:t>
            </a:r>
            <a:endParaRPr b="0" i="0" sz="1100" u="none" cap="none" strike="noStrike">
              <a:solidFill>
                <a:schemeClr val="dk1"/>
              </a:solidFill>
              <a:latin typeface="Calibri"/>
              <a:ea typeface="Calibri"/>
              <a:cs typeface="Calibri"/>
              <a:sym typeface="Calibri"/>
            </a:endParaRPr>
          </a:p>
        </p:txBody>
      </p:sp>
      <p:cxnSp>
        <p:nvCxnSpPr>
          <p:cNvPr id="171" name="Google Shape;171;p22"/>
          <p:cNvCxnSpPr/>
          <p:nvPr/>
        </p:nvCxnSpPr>
        <p:spPr>
          <a:xfrm>
            <a:off x="5806440" y="3063240"/>
            <a:ext cx="914400" cy="0"/>
          </a:xfrm>
          <a:prstGeom prst="straightConnector1">
            <a:avLst/>
          </a:prstGeom>
          <a:noFill/>
          <a:ln cap="flat" cmpd="sng" w="19050">
            <a:solidFill>
              <a:srgbClr val="8A8291"/>
            </a:solidFill>
            <a:prstDash val="solid"/>
            <a:round/>
            <a:headEnd len="sm" w="sm" type="none"/>
            <a:tailEnd len="med" w="med" type="triangle"/>
          </a:ln>
        </p:spPr>
      </p:cxnSp>
      <p:sp>
        <p:nvSpPr>
          <p:cNvPr id="172" name="Google Shape;172;p22"/>
          <p:cNvSpPr txBox="1"/>
          <p:nvPr/>
        </p:nvSpPr>
        <p:spPr>
          <a:xfrm>
            <a:off x="5806440" y="2761488"/>
            <a:ext cx="9144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E5566"/>
              </a:buClr>
              <a:buSzPts val="1100"/>
              <a:buFont typeface="Calibri"/>
              <a:buNone/>
            </a:pPr>
            <a:r>
              <a:rPr b="0" i="0" lang="fr" sz="1100" u="none" cap="none" strike="noStrike">
                <a:solidFill>
                  <a:srgbClr val="5E5566"/>
                </a:solidFill>
                <a:latin typeface="Calibri"/>
                <a:ea typeface="Calibri"/>
                <a:cs typeface="Calibri"/>
                <a:sym typeface="Calibri"/>
              </a:rPr>
              <a:t>flux</a:t>
            </a:r>
            <a:endParaRPr b="0" i="0" sz="1100" u="none" cap="none" strike="noStrike">
              <a:solidFill>
                <a:schemeClr val="dk1"/>
              </a:solidFill>
              <a:latin typeface="Calibri"/>
              <a:ea typeface="Calibri"/>
              <a:cs typeface="Calibri"/>
              <a:sym typeface="Calibri"/>
            </a:endParaRPr>
          </a:p>
        </p:txBody>
      </p:sp>
      <p:sp>
        <p:nvSpPr>
          <p:cNvPr id="173" name="Google Shape;173;p22"/>
          <p:cNvSpPr/>
          <p:nvPr/>
        </p:nvSpPr>
        <p:spPr>
          <a:xfrm>
            <a:off x="457200" y="3840480"/>
            <a:ext cx="3977640" cy="868680"/>
          </a:xfrm>
          <a:prstGeom prst="roundRect">
            <a:avLst>
              <a:gd fmla="val 8421"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2"/>
          <p:cNvSpPr txBox="1"/>
          <p:nvPr/>
        </p:nvSpPr>
        <p:spPr>
          <a:xfrm>
            <a:off x="621792" y="3968496"/>
            <a:ext cx="364845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500"/>
              <a:buFont typeface="Calibri"/>
              <a:buNone/>
            </a:pPr>
            <a:r>
              <a:rPr b="1" i="0" lang="fr" sz="1500" u="none" cap="none" strike="noStrike">
                <a:solidFill>
                  <a:srgbClr val="C8414B"/>
                </a:solidFill>
                <a:latin typeface="Calibri"/>
                <a:ea typeface="Calibri"/>
                <a:cs typeface="Calibri"/>
                <a:sym typeface="Calibri"/>
              </a:rPr>
              <a:t>Même origine</a:t>
            </a:r>
            <a:endParaRPr b="0" i="0" sz="1500" u="none" cap="none" strike="noStrike">
              <a:solidFill>
                <a:schemeClr val="dk1"/>
              </a:solidFill>
              <a:latin typeface="Calibri"/>
              <a:ea typeface="Calibri"/>
              <a:cs typeface="Calibri"/>
              <a:sym typeface="Calibri"/>
            </a:endParaRPr>
          </a:p>
        </p:txBody>
      </p:sp>
      <p:sp>
        <p:nvSpPr>
          <p:cNvPr id="175" name="Google Shape;175;p22"/>
          <p:cNvSpPr txBox="1"/>
          <p:nvPr/>
        </p:nvSpPr>
        <p:spPr>
          <a:xfrm>
            <a:off x="621792" y="4297680"/>
            <a:ext cx="3648456" cy="3017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Le proxy local (vite) sert le front et relaie /api : pas de CORS</a:t>
            </a:r>
            <a:endParaRPr b="0" i="0" sz="1200" u="none" cap="none" strike="noStrike">
              <a:solidFill>
                <a:schemeClr val="dk1"/>
              </a:solidFill>
              <a:latin typeface="Calibri"/>
              <a:ea typeface="Calibri"/>
              <a:cs typeface="Calibri"/>
              <a:sym typeface="Calibri"/>
            </a:endParaRPr>
          </a:p>
        </p:txBody>
      </p:sp>
      <p:sp>
        <p:nvSpPr>
          <p:cNvPr id="176" name="Google Shape;176;p22"/>
          <p:cNvSpPr/>
          <p:nvPr/>
        </p:nvSpPr>
        <p:spPr>
          <a:xfrm>
            <a:off x="4709160" y="3840480"/>
            <a:ext cx="3977640" cy="868680"/>
          </a:xfrm>
          <a:prstGeom prst="roundRect">
            <a:avLst>
              <a:gd fmla="val 8421"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2"/>
          <p:cNvSpPr txBox="1"/>
          <p:nvPr/>
        </p:nvSpPr>
        <p:spPr>
          <a:xfrm>
            <a:off x="4873752" y="3968496"/>
            <a:ext cx="364845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500"/>
              <a:buFont typeface="Calibri"/>
              <a:buNone/>
            </a:pPr>
            <a:r>
              <a:rPr b="1" i="0" lang="fr" sz="1500" u="none" cap="none" strike="noStrike">
                <a:solidFill>
                  <a:srgbClr val="C8414B"/>
                </a:solidFill>
                <a:latin typeface="Calibri"/>
                <a:ea typeface="Calibri"/>
                <a:cs typeface="Calibri"/>
                <a:sym typeface="Calibri"/>
              </a:rPr>
              <a:t>shared_lib</a:t>
            </a:r>
            <a:endParaRPr b="0" i="0" sz="1500" u="none" cap="none" strike="noStrike">
              <a:solidFill>
                <a:schemeClr val="dk1"/>
              </a:solidFill>
              <a:latin typeface="Calibri"/>
              <a:ea typeface="Calibri"/>
              <a:cs typeface="Calibri"/>
              <a:sym typeface="Calibri"/>
            </a:endParaRPr>
          </a:p>
        </p:txBody>
      </p:sp>
      <p:sp>
        <p:nvSpPr>
          <p:cNvPr id="178" name="Google Shape;178;p22"/>
          <p:cNvSpPr txBox="1"/>
          <p:nvPr/>
        </p:nvSpPr>
        <p:spPr>
          <a:xfrm>
            <a:off x="4873752" y="4297680"/>
            <a:ext cx="3648456" cy="3017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Types de l’API et règles de validation, communs au front et au back</a:t>
            </a:r>
            <a:endParaRPr b="0" i="0" sz="1200" u="none" cap="none" strike="noStrike">
              <a:solidFill>
                <a:schemeClr val="dk1"/>
              </a:solidFill>
              <a:latin typeface="Calibri"/>
              <a:ea typeface="Calibri"/>
              <a:cs typeface="Calibri"/>
              <a:sym typeface="Calibri"/>
            </a:endParaRPr>
          </a:p>
        </p:txBody>
      </p:sp>
      <p:sp>
        <p:nvSpPr>
          <p:cNvPr id="179" name="Google Shape;179;p22"/>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 sz="1000" u="none" cap="none" strike="noStrike">
                <a:solidFill>
                  <a:srgbClr val="8A8291"/>
                </a:solidFill>
                <a:latin typeface="Calibri"/>
                <a:ea typeface="Calibri"/>
                <a:cs typeface="Calibri"/>
                <a:sym typeface="Calibri"/>
              </a:rPr>
              <a:t>‹#›</a:t>
            </a:fld>
            <a:endParaRPr b="0" i="0" sz="1000" u="none" cap="none" strike="noStrike">
              <a:solidFill>
                <a:srgbClr val="8A829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457200" y="274320"/>
            <a:ext cx="8229600" cy="64008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2B2230"/>
              </a:buClr>
              <a:buSzPts val="3000"/>
              <a:buFont typeface="Calibri"/>
              <a:buNone/>
            </a:pPr>
            <a:r>
              <a:rPr b="1" lang="fr" sz="3000">
                <a:solidFill>
                  <a:srgbClr val="2B2230"/>
                </a:solidFill>
              </a:rPr>
              <a:t>Deux entités, huit routes, des erreurs explicites</a:t>
            </a:r>
            <a:endParaRPr sz="3000"/>
          </a:p>
        </p:txBody>
      </p:sp>
      <p:sp>
        <p:nvSpPr>
          <p:cNvPr id="186" name="Google Shape;186;p23"/>
          <p:cNvSpPr/>
          <p:nvPr/>
        </p:nvSpPr>
        <p:spPr>
          <a:xfrm>
            <a:off x="457200" y="1143000"/>
            <a:ext cx="2377440" cy="1234440"/>
          </a:xfrm>
          <a:prstGeom prst="roundRect">
            <a:avLst>
              <a:gd fmla="val 5926"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3"/>
          <p:cNvSpPr txBox="1"/>
          <p:nvPr/>
        </p:nvSpPr>
        <p:spPr>
          <a:xfrm>
            <a:off x="621792" y="1271016"/>
            <a:ext cx="204825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500"/>
              <a:buFont typeface="Calibri"/>
              <a:buNone/>
            </a:pPr>
            <a:r>
              <a:rPr b="1" i="0" lang="fr" sz="1500" u="none" cap="none" strike="noStrike">
                <a:solidFill>
                  <a:srgbClr val="C8414B"/>
                </a:solidFill>
                <a:latin typeface="Calibri"/>
                <a:ea typeface="Calibri"/>
                <a:cs typeface="Calibri"/>
                <a:sym typeface="Calibri"/>
              </a:rPr>
              <a:t>USER</a:t>
            </a:r>
            <a:endParaRPr b="0" i="0" sz="1500" u="none" cap="none" strike="noStrike">
              <a:solidFill>
                <a:schemeClr val="dk1"/>
              </a:solidFill>
              <a:latin typeface="Calibri"/>
              <a:ea typeface="Calibri"/>
              <a:cs typeface="Calibri"/>
              <a:sym typeface="Calibri"/>
            </a:endParaRPr>
          </a:p>
        </p:txBody>
      </p:sp>
      <p:sp>
        <p:nvSpPr>
          <p:cNvPr id="188" name="Google Shape;188;p23"/>
          <p:cNvSpPr txBox="1"/>
          <p:nvPr/>
        </p:nvSpPr>
        <p:spPr>
          <a:xfrm>
            <a:off x="621792" y="1600200"/>
            <a:ext cx="2048256" cy="6675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email unique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hash bcrypt du mot de passe</a:t>
            </a:r>
            <a:endParaRPr b="0" i="0" sz="1200" u="none" cap="none" strike="noStrike">
              <a:solidFill>
                <a:schemeClr val="dk1"/>
              </a:solidFill>
              <a:latin typeface="Calibri"/>
              <a:ea typeface="Calibri"/>
              <a:cs typeface="Calibri"/>
              <a:sym typeface="Calibri"/>
            </a:endParaRPr>
          </a:p>
        </p:txBody>
      </p:sp>
      <p:sp>
        <p:nvSpPr>
          <p:cNvPr id="189" name="Google Shape;189;p23"/>
          <p:cNvSpPr/>
          <p:nvPr/>
        </p:nvSpPr>
        <p:spPr>
          <a:xfrm>
            <a:off x="457200" y="2834640"/>
            <a:ext cx="2377440" cy="1600200"/>
          </a:xfrm>
          <a:prstGeom prst="roundRect">
            <a:avLst>
              <a:gd fmla="val 4571"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3"/>
          <p:cNvSpPr txBox="1"/>
          <p:nvPr/>
        </p:nvSpPr>
        <p:spPr>
          <a:xfrm>
            <a:off x="621792" y="2962656"/>
            <a:ext cx="204825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500"/>
              <a:buFont typeface="Calibri"/>
              <a:buNone/>
            </a:pPr>
            <a:r>
              <a:rPr b="1" i="0" lang="fr" sz="1500" u="none" cap="none" strike="noStrike">
                <a:solidFill>
                  <a:srgbClr val="C8414B"/>
                </a:solidFill>
                <a:latin typeface="Calibri"/>
                <a:ea typeface="Calibri"/>
                <a:cs typeface="Calibri"/>
                <a:sym typeface="Calibri"/>
              </a:rPr>
              <a:t>FILE</a:t>
            </a:r>
            <a:endParaRPr b="0" i="0" sz="1500" u="none" cap="none" strike="noStrike">
              <a:solidFill>
                <a:schemeClr val="dk1"/>
              </a:solidFill>
              <a:latin typeface="Calibri"/>
              <a:ea typeface="Calibri"/>
              <a:cs typeface="Calibri"/>
              <a:sym typeface="Calibri"/>
            </a:endParaRPr>
          </a:p>
        </p:txBody>
      </p:sp>
      <p:sp>
        <p:nvSpPr>
          <p:cNvPr id="191" name="Google Shape;191;p23"/>
          <p:cNvSpPr txBox="1"/>
          <p:nvPr/>
        </p:nvSpPr>
        <p:spPr>
          <a:xfrm>
            <a:off x="621792" y="3291840"/>
            <a:ext cx="2048256" cy="10332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nom, taille, expiration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token de lien unique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hash du mot de passe (option)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propriétaire (option)</a:t>
            </a:r>
            <a:endParaRPr b="0" i="0" sz="1200" u="none" cap="none" strike="noStrike">
              <a:solidFill>
                <a:schemeClr val="dk1"/>
              </a:solidFill>
              <a:latin typeface="Calibri"/>
              <a:ea typeface="Calibri"/>
              <a:cs typeface="Calibri"/>
              <a:sym typeface="Calibri"/>
            </a:endParaRPr>
          </a:p>
        </p:txBody>
      </p:sp>
      <p:cxnSp>
        <p:nvCxnSpPr>
          <p:cNvPr id="192" name="Google Shape;192;p23"/>
          <p:cNvCxnSpPr/>
          <p:nvPr/>
        </p:nvCxnSpPr>
        <p:spPr>
          <a:xfrm>
            <a:off x="1645920" y="2395728"/>
            <a:ext cx="0" cy="420624"/>
          </a:xfrm>
          <a:prstGeom prst="straightConnector1">
            <a:avLst/>
          </a:prstGeom>
          <a:noFill/>
          <a:ln cap="flat" cmpd="sng" w="19050">
            <a:solidFill>
              <a:srgbClr val="8A8291"/>
            </a:solidFill>
            <a:prstDash val="solid"/>
            <a:round/>
            <a:headEnd len="sm" w="sm" type="none"/>
            <a:tailEnd len="sm" w="sm" type="none"/>
          </a:ln>
        </p:spPr>
      </p:cxnSp>
      <p:sp>
        <p:nvSpPr>
          <p:cNvPr id="193" name="Google Shape;193;p23"/>
          <p:cNvSpPr txBox="1"/>
          <p:nvPr/>
        </p:nvSpPr>
        <p:spPr>
          <a:xfrm>
            <a:off x="1783080" y="2450592"/>
            <a:ext cx="8229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5566"/>
              </a:buClr>
              <a:buSzPts val="1200"/>
              <a:buFont typeface="Calibri"/>
              <a:buNone/>
            </a:pPr>
            <a:r>
              <a:rPr b="0" i="0" lang="fr" sz="1200" u="none" cap="none" strike="noStrike">
                <a:solidFill>
                  <a:srgbClr val="5E5566"/>
                </a:solidFill>
                <a:latin typeface="Calibri"/>
                <a:ea typeface="Calibri"/>
                <a:cs typeface="Calibri"/>
                <a:sym typeface="Calibri"/>
              </a:rPr>
              <a:t>1 — N</a:t>
            </a:r>
            <a:endParaRPr b="0" i="0" sz="1200" u="none" cap="none" strike="noStrike">
              <a:solidFill>
                <a:schemeClr val="dk1"/>
              </a:solidFill>
              <a:latin typeface="Calibri"/>
              <a:ea typeface="Calibri"/>
              <a:cs typeface="Calibri"/>
              <a:sym typeface="Calibri"/>
            </a:endParaRPr>
          </a:p>
        </p:txBody>
      </p:sp>
      <p:graphicFrame>
        <p:nvGraphicFramePr>
          <p:cNvPr id="194" name="Google Shape;194;p23"/>
          <p:cNvGraphicFramePr/>
          <p:nvPr/>
        </p:nvGraphicFramePr>
        <p:xfrm>
          <a:off x="3200400" y="1143000"/>
          <a:ext cx="3000000" cy="3000000"/>
        </p:xfrm>
        <a:graphic>
          <a:graphicData uri="http://schemas.openxmlformats.org/drawingml/2006/table">
            <a:tbl>
              <a:tblPr>
                <a:noFill/>
                <a:tableStyleId>{183772D2-D8E0-4E67-9DB2-8791DCAE5FA2}</a:tableStyleId>
              </a:tblPr>
              <a:tblGrid>
                <a:gridCol w="3017525"/>
                <a:gridCol w="2468875"/>
              </a:tblGrid>
              <a:tr h="329175">
                <a:tc>
                  <a:txBody>
                    <a:bodyPr/>
                    <a:lstStyle/>
                    <a:p>
                      <a:pPr indent="0" lvl="0" marL="0" marR="0" rtl="0" algn="l">
                        <a:spcBef>
                          <a:spcPts val="0"/>
                        </a:spcBef>
                        <a:spcAft>
                          <a:spcPts val="0"/>
                        </a:spcAft>
                        <a:buClr>
                          <a:srgbClr val="FFFFFF"/>
                        </a:buClr>
                        <a:buSzPts val="1200"/>
                        <a:buFont typeface="Calibri"/>
                        <a:buNone/>
                      </a:pPr>
                      <a:r>
                        <a:rPr b="1" lang="fr" sz="1200" u="none" cap="none" strike="noStrike">
                          <a:solidFill>
                            <a:srgbClr val="FFFFFF"/>
                          </a:solidFill>
                        </a:rPr>
                        <a:t>Route</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solidFill>
                      <a:srgbClr val="2B2230"/>
                    </a:solidFill>
                  </a:tcPr>
                </a:tc>
                <a:tc>
                  <a:txBody>
                    <a:bodyPr/>
                    <a:lstStyle/>
                    <a:p>
                      <a:pPr indent="0" lvl="0" marL="0" marR="0" rtl="0" algn="l">
                        <a:spcBef>
                          <a:spcPts val="0"/>
                        </a:spcBef>
                        <a:spcAft>
                          <a:spcPts val="0"/>
                        </a:spcAft>
                        <a:buClr>
                          <a:srgbClr val="FFFFFF"/>
                        </a:buClr>
                        <a:buSzPts val="1200"/>
                        <a:buFont typeface="Calibri"/>
                        <a:buNone/>
                      </a:pPr>
                      <a:r>
                        <a:rPr b="1" lang="fr" sz="1200" u="none" cap="none" strike="noStrike">
                          <a:solidFill>
                            <a:srgbClr val="FFFFFF"/>
                          </a:solidFill>
                        </a:rPr>
                        <a:t>Accès</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solidFill>
                      <a:srgbClr val="2B2230"/>
                    </a:solidFill>
                  </a:tcPr>
                </a:tc>
              </a:tr>
              <a:tr h="329175">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POST /auth/register · /auth/login</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Public</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r>
              <a:tr h="329175">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GET /auth/me</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Connecté</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r>
              <a:tr h="329175">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POST /files</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Public, rattaché au compte si token</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r>
              <a:tr h="329175">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GET /files</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Connecté</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r>
              <a:tr h="329175">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DELETE /files/{id}</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Propriétaire</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r>
              <a:tr h="329175">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GET /f/{token} · POST /f/{token}/download</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c>
                  <a:txBody>
                    <a:bodyPr/>
                    <a:lstStyle/>
                    <a:p>
                      <a:pPr indent="0" lvl="0" marL="0" marR="0" rtl="0" algn="l">
                        <a:spcBef>
                          <a:spcPts val="0"/>
                        </a:spcBef>
                        <a:spcAft>
                          <a:spcPts val="0"/>
                        </a:spcAft>
                        <a:buClr>
                          <a:srgbClr val="2B2230"/>
                        </a:buClr>
                        <a:buSzPts val="1200"/>
                        <a:buFont typeface="Calibri"/>
                        <a:buNone/>
                      </a:pPr>
                      <a:r>
                        <a:rPr lang="fr" sz="1200" u="none" cap="none" strike="noStrike">
                          <a:solidFill>
                            <a:srgbClr val="2B2230"/>
                          </a:solidFill>
                        </a:rPr>
                        <a:t>Public, mot de passe si protégé</a:t>
                      </a:r>
                      <a:endParaRPr sz="1200" u="none" cap="none" strike="noStrike"/>
                    </a:p>
                  </a:txBody>
                  <a:tcPr marT="45725" marB="45725" marR="91450" marL="91450" anchor="ctr">
                    <a:lnL cap="flat" cmpd="sng" w="9525">
                      <a:solidFill>
                        <a:srgbClr val="E5E4E7"/>
                      </a:solidFill>
                      <a:prstDash val="solid"/>
                      <a:round/>
                      <a:headEnd len="sm" w="sm" type="none"/>
                      <a:tailEnd len="sm" w="sm" type="none"/>
                    </a:lnL>
                    <a:lnR cap="flat" cmpd="sng" w="9525">
                      <a:solidFill>
                        <a:srgbClr val="E5E4E7"/>
                      </a:solidFill>
                      <a:prstDash val="solid"/>
                      <a:round/>
                      <a:headEnd len="sm" w="sm" type="none"/>
                      <a:tailEnd len="sm" w="sm" type="none"/>
                    </a:lnR>
                    <a:lnT cap="flat" cmpd="sng" w="9525">
                      <a:solidFill>
                        <a:srgbClr val="E5E4E7"/>
                      </a:solidFill>
                      <a:prstDash val="solid"/>
                      <a:round/>
                      <a:headEnd len="sm" w="sm" type="none"/>
                      <a:tailEnd len="sm" w="sm" type="none"/>
                    </a:lnT>
                    <a:lnB cap="flat" cmpd="sng" w="9525">
                      <a:solidFill>
                        <a:srgbClr val="E5E4E7"/>
                      </a:solidFill>
                      <a:prstDash val="solid"/>
                      <a:round/>
                      <a:headEnd len="sm" w="sm" type="none"/>
                      <a:tailEnd len="sm" w="sm" type="none"/>
                    </a:lnB>
                  </a:tcPr>
                </a:tc>
              </a:tr>
            </a:tbl>
          </a:graphicData>
        </a:graphic>
      </p:graphicFrame>
      <p:sp>
        <p:nvSpPr>
          <p:cNvPr id="195" name="Google Shape;195;p23"/>
          <p:cNvSpPr/>
          <p:nvPr/>
        </p:nvSpPr>
        <p:spPr>
          <a:xfrm>
            <a:off x="3200400" y="3703320"/>
            <a:ext cx="1024128" cy="731520"/>
          </a:xfrm>
          <a:prstGeom prst="roundRect">
            <a:avLst>
              <a:gd fmla="val 10000"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3"/>
          <p:cNvSpPr txBox="1"/>
          <p:nvPr/>
        </p:nvSpPr>
        <p:spPr>
          <a:xfrm>
            <a:off x="3200400" y="3749040"/>
            <a:ext cx="1024128" cy="32918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8414B"/>
              </a:buClr>
              <a:buSzPts val="1600"/>
              <a:buFont typeface="Calibri"/>
              <a:buNone/>
            </a:pPr>
            <a:r>
              <a:rPr b="1" i="0" lang="fr" sz="1600" u="none" cap="none" strike="noStrike">
                <a:solidFill>
                  <a:srgbClr val="C8414B"/>
                </a:solidFill>
                <a:latin typeface="Calibri"/>
                <a:ea typeface="Calibri"/>
                <a:cs typeface="Calibri"/>
                <a:sym typeface="Calibri"/>
              </a:rPr>
              <a:t>422</a:t>
            </a:r>
            <a:endParaRPr b="0" i="0" sz="1600" u="none" cap="none" strike="noStrike">
              <a:solidFill>
                <a:schemeClr val="dk1"/>
              </a:solidFill>
              <a:latin typeface="Calibri"/>
              <a:ea typeface="Calibri"/>
              <a:cs typeface="Calibri"/>
              <a:sym typeface="Calibri"/>
            </a:endParaRPr>
          </a:p>
        </p:txBody>
      </p:sp>
      <p:sp>
        <p:nvSpPr>
          <p:cNvPr id="197" name="Google Shape;197;p23"/>
          <p:cNvSpPr txBox="1"/>
          <p:nvPr/>
        </p:nvSpPr>
        <p:spPr>
          <a:xfrm>
            <a:off x="3200400" y="4078224"/>
            <a:ext cx="1024128"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B2230"/>
              </a:buClr>
              <a:buSzPts val="1100"/>
              <a:buFont typeface="Calibri"/>
              <a:buNone/>
            </a:pPr>
            <a:r>
              <a:rPr b="0" i="0" lang="fr" sz="1100" u="none" cap="none" strike="noStrike">
                <a:solidFill>
                  <a:srgbClr val="2B2230"/>
                </a:solidFill>
                <a:latin typeface="Calibri"/>
                <a:ea typeface="Calibri"/>
                <a:cs typeface="Calibri"/>
                <a:sym typeface="Calibri"/>
              </a:rPr>
              <a:t>saisie invalide</a:t>
            </a:r>
            <a:endParaRPr b="0" i="0" sz="1100" u="none" cap="none" strike="noStrike">
              <a:solidFill>
                <a:schemeClr val="dk1"/>
              </a:solidFill>
              <a:latin typeface="Calibri"/>
              <a:ea typeface="Calibri"/>
              <a:cs typeface="Calibri"/>
              <a:sym typeface="Calibri"/>
            </a:endParaRPr>
          </a:p>
        </p:txBody>
      </p:sp>
      <p:sp>
        <p:nvSpPr>
          <p:cNvPr id="198" name="Google Shape;198;p23"/>
          <p:cNvSpPr/>
          <p:nvPr/>
        </p:nvSpPr>
        <p:spPr>
          <a:xfrm>
            <a:off x="4315968" y="3703320"/>
            <a:ext cx="1024128" cy="731520"/>
          </a:xfrm>
          <a:prstGeom prst="roundRect">
            <a:avLst>
              <a:gd fmla="val 10000"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3"/>
          <p:cNvSpPr txBox="1"/>
          <p:nvPr/>
        </p:nvSpPr>
        <p:spPr>
          <a:xfrm>
            <a:off x="4315968" y="3749040"/>
            <a:ext cx="1024128" cy="32918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8414B"/>
              </a:buClr>
              <a:buSzPts val="1600"/>
              <a:buFont typeface="Calibri"/>
              <a:buNone/>
            </a:pPr>
            <a:r>
              <a:rPr b="1" i="0" lang="fr" sz="1600" u="none" cap="none" strike="noStrike">
                <a:solidFill>
                  <a:srgbClr val="C8414B"/>
                </a:solidFill>
                <a:latin typeface="Calibri"/>
                <a:ea typeface="Calibri"/>
                <a:cs typeface="Calibri"/>
                <a:sym typeface="Calibri"/>
              </a:rPr>
              <a:t>401</a:t>
            </a:r>
            <a:endParaRPr b="0" i="0" sz="1600" u="none" cap="none" strike="noStrike">
              <a:solidFill>
                <a:schemeClr val="dk1"/>
              </a:solidFill>
              <a:latin typeface="Calibri"/>
              <a:ea typeface="Calibri"/>
              <a:cs typeface="Calibri"/>
              <a:sym typeface="Calibri"/>
            </a:endParaRPr>
          </a:p>
        </p:txBody>
      </p:sp>
      <p:sp>
        <p:nvSpPr>
          <p:cNvPr id="200" name="Google Shape;200;p23"/>
          <p:cNvSpPr txBox="1"/>
          <p:nvPr/>
        </p:nvSpPr>
        <p:spPr>
          <a:xfrm>
            <a:off x="4315968" y="4078224"/>
            <a:ext cx="1024128"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B2230"/>
              </a:buClr>
              <a:buSzPts val="1100"/>
              <a:buFont typeface="Calibri"/>
              <a:buNone/>
            </a:pPr>
            <a:r>
              <a:rPr b="0" i="0" lang="fr" sz="1100" u="none" cap="none" strike="noStrike">
                <a:solidFill>
                  <a:srgbClr val="2B2230"/>
                </a:solidFill>
                <a:latin typeface="Calibri"/>
                <a:ea typeface="Calibri"/>
                <a:cs typeface="Calibri"/>
                <a:sym typeface="Calibri"/>
              </a:rPr>
              <a:t>non authentifié</a:t>
            </a:r>
            <a:endParaRPr b="0" i="0" sz="1100" u="none" cap="none" strike="noStrike">
              <a:solidFill>
                <a:schemeClr val="dk1"/>
              </a:solidFill>
              <a:latin typeface="Calibri"/>
              <a:ea typeface="Calibri"/>
              <a:cs typeface="Calibri"/>
              <a:sym typeface="Calibri"/>
            </a:endParaRPr>
          </a:p>
        </p:txBody>
      </p:sp>
      <p:sp>
        <p:nvSpPr>
          <p:cNvPr id="201" name="Google Shape;201;p23"/>
          <p:cNvSpPr/>
          <p:nvPr/>
        </p:nvSpPr>
        <p:spPr>
          <a:xfrm>
            <a:off x="5431536" y="3703320"/>
            <a:ext cx="1024128" cy="731520"/>
          </a:xfrm>
          <a:prstGeom prst="roundRect">
            <a:avLst>
              <a:gd fmla="val 10000"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3"/>
          <p:cNvSpPr txBox="1"/>
          <p:nvPr/>
        </p:nvSpPr>
        <p:spPr>
          <a:xfrm>
            <a:off x="5431536" y="3749040"/>
            <a:ext cx="1024128" cy="32918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8414B"/>
              </a:buClr>
              <a:buSzPts val="1600"/>
              <a:buFont typeface="Calibri"/>
              <a:buNone/>
            </a:pPr>
            <a:r>
              <a:rPr b="1" i="0" lang="fr" sz="1600" u="none" cap="none" strike="noStrike">
                <a:solidFill>
                  <a:srgbClr val="C8414B"/>
                </a:solidFill>
                <a:latin typeface="Calibri"/>
                <a:ea typeface="Calibri"/>
                <a:cs typeface="Calibri"/>
                <a:sym typeface="Calibri"/>
              </a:rPr>
              <a:t>403</a:t>
            </a:r>
            <a:endParaRPr b="0" i="0" sz="1600" u="none" cap="none" strike="noStrike">
              <a:solidFill>
                <a:schemeClr val="dk1"/>
              </a:solidFill>
              <a:latin typeface="Calibri"/>
              <a:ea typeface="Calibri"/>
              <a:cs typeface="Calibri"/>
              <a:sym typeface="Calibri"/>
            </a:endParaRPr>
          </a:p>
        </p:txBody>
      </p:sp>
      <p:sp>
        <p:nvSpPr>
          <p:cNvPr id="203" name="Google Shape;203;p23"/>
          <p:cNvSpPr txBox="1"/>
          <p:nvPr/>
        </p:nvSpPr>
        <p:spPr>
          <a:xfrm>
            <a:off x="5431536" y="4078224"/>
            <a:ext cx="1024128"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B2230"/>
              </a:buClr>
              <a:buSzPts val="1100"/>
              <a:buFont typeface="Calibri"/>
              <a:buNone/>
            </a:pPr>
            <a:r>
              <a:rPr b="0" i="0" lang="fr" sz="1100" u="none" cap="none" strike="noStrike">
                <a:solidFill>
                  <a:srgbClr val="2B2230"/>
                </a:solidFill>
                <a:latin typeface="Calibri"/>
                <a:ea typeface="Calibri"/>
                <a:cs typeface="Calibri"/>
                <a:sym typeface="Calibri"/>
              </a:rPr>
              <a:t>fichier d’autrui</a:t>
            </a:r>
            <a:endParaRPr b="0" i="0" sz="1100" u="none" cap="none" strike="noStrike">
              <a:solidFill>
                <a:schemeClr val="dk1"/>
              </a:solidFill>
              <a:latin typeface="Calibri"/>
              <a:ea typeface="Calibri"/>
              <a:cs typeface="Calibri"/>
              <a:sym typeface="Calibri"/>
            </a:endParaRPr>
          </a:p>
        </p:txBody>
      </p:sp>
      <p:sp>
        <p:nvSpPr>
          <p:cNvPr id="204" name="Google Shape;204;p23"/>
          <p:cNvSpPr/>
          <p:nvPr/>
        </p:nvSpPr>
        <p:spPr>
          <a:xfrm>
            <a:off x="6547104" y="3703320"/>
            <a:ext cx="1024128" cy="731520"/>
          </a:xfrm>
          <a:prstGeom prst="roundRect">
            <a:avLst>
              <a:gd fmla="val 10000"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3"/>
          <p:cNvSpPr txBox="1"/>
          <p:nvPr/>
        </p:nvSpPr>
        <p:spPr>
          <a:xfrm>
            <a:off x="6547104" y="3749040"/>
            <a:ext cx="1024128" cy="32918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8414B"/>
              </a:buClr>
              <a:buSzPts val="1600"/>
              <a:buFont typeface="Calibri"/>
              <a:buNone/>
            </a:pPr>
            <a:r>
              <a:rPr b="1" i="0" lang="fr" sz="1600" u="none" cap="none" strike="noStrike">
                <a:solidFill>
                  <a:srgbClr val="C8414B"/>
                </a:solidFill>
                <a:latin typeface="Calibri"/>
                <a:ea typeface="Calibri"/>
                <a:cs typeface="Calibri"/>
                <a:sym typeface="Calibri"/>
              </a:rPr>
              <a:t>404</a:t>
            </a:r>
            <a:endParaRPr b="0" i="0" sz="1600" u="none" cap="none" strike="noStrike">
              <a:solidFill>
                <a:schemeClr val="dk1"/>
              </a:solidFill>
              <a:latin typeface="Calibri"/>
              <a:ea typeface="Calibri"/>
              <a:cs typeface="Calibri"/>
              <a:sym typeface="Calibri"/>
            </a:endParaRPr>
          </a:p>
        </p:txBody>
      </p:sp>
      <p:sp>
        <p:nvSpPr>
          <p:cNvPr id="206" name="Google Shape;206;p23"/>
          <p:cNvSpPr txBox="1"/>
          <p:nvPr/>
        </p:nvSpPr>
        <p:spPr>
          <a:xfrm>
            <a:off x="6547104" y="4078224"/>
            <a:ext cx="1024128"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B2230"/>
              </a:buClr>
              <a:buSzPts val="1100"/>
              <a:buFont typeface="Calibri"/>
              <a:buNone/>
            </a:pPr>
            <a:r>
              <a:rPr b="0" i="0" lang="fr" sz="1100" u="none" cap="none" strike="noStrike">
                <a:solidFill>
                  <a:srgbClr val="2B2230"/>
                </a:solidFill>
                <a:latin typeface="Calibri"/>
                <a:ea typeface="Calibri"/>
                <a:cs typeface="Calibri"/>
                <a:sym typeface="Calibri"/>
              </a:rPr>
              <a:t>lien inconnu</a:t>
            </a:r>
            <a:endParaRPr b="0" i="0" sz="1100" u="none" cap="none" strike="noStrike">
              <a:solidFill>
                <a:schemeClr val="dk1"/>
              </a:solidFill>
              <a:latin typeface="Calibri"/>
              <a:ea typeface="Calibri"/>
              <a:cs typeface="Calibri"/>
              <a:sym typeface="Calibri"/>
            </a:endParaRPr>
          </a:p>
        </p:txBody>
      </p:sp>
      <p:sp>
        <p:nvSpPr>
          <p:cNvPr id="207" name="Google Shape;207;p23"/>
          <p:cNvSpPr/>
          <p:nvPr/>
        </p:nvSpPr>
        <p:spPr>
          <a:xfrm>
            <a:off x="7662672" y="3703320"/>
            <a:ext cx="1024128" cy="731520"/>
          </a:xfrm>
          <a:prstGeom prst="roundRect">
            <a:avLst>
              <a:gd fmla="val 10000"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3"/>
          <p:cNvSpPr txBox="1"/>
          <p:nvPr/>
        </p:nvSpPr>
        <p:spPr>
          <a:xfrm>
            <a:off x="7662672" y="3749040"/>
            <a:ext cx="1024128" cy="32918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8414B"/>
              </a:buClr>
              <a:buSzPts val="1600"/>
              <a:buFont typeface="Calibri"/>
              <a:buNone/>
            </a:pPr>
            <a:r>
              <a:rPr b="1" i="0" lang="fr" sz="1600" u="none" cap="none" strike="noStrike">
                <a:solidFill>
                  <a:srgbClr val="C8414B"/>
                </a:solidFill>
                <a:latin typeface="Calibri"/>
                <a:ea typeface="Calibri"/>
                <a:cs typeface="Calibri"/>
                <a:sym typeface="Calibri"/>
              </a:rPr>
              <a:t>410</a:t>
            </a:r>
            <a:endParaRPr b="0" i="0" sz="1600" u="none" cap="none" strike="noStrike">
              <a:solidFill>
                <a:schemeClr val="dk1"/>
              </a:solidFill>
              <a:latin typeface="Calibri"/>
              <a:ea typeface="Calibri"/>
              <a:cs typeface="Calibri"/>
              <a:sym typeface="Calibri"/>
            </a:endParaRPr>
          </a:p>
        </p:txBody>
      </p:sp>
      <p:sp>
        <p:nvSpPr>
          <p:cNvPr id="209" name="Google Shape;209;p23"/>
          <p:cNvSpPr txBox="1"/>
          <p:nvPr/>
        </p:nvSpPr>
        <p:spPr>
          <a:xfrm>
            <a:off x="7662672" y="4078224"/>
            <a:ext cx="1024128"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B2230"/>
              </a:buClr>
              <a:buSzPts val="1100"/>
              <a:buFont typeface="Calibri"/>
              <a:buNone/>
            </a:pPr>
            <a:r>
              <a:rPr b="0" i="0" lang="fr" sz="1100" u="none" cap="none" strike="noStrike">
                <a:solidFill>
                  <a:srgbClr val="2B2230"/>
                </a:solidFill>
                <a:latin typeface="Calibri"/>
                <a:ea typeface="Calibri"/>
                <a:cs typeface="Calibri"/>
                <a:sym typeface="Calibri"/>
              </a:rPr>
              <a:t>lien expiré</a:t>
            </a:r>
            <a:endParaRPr b="0" i="0" sz="1100" u="none" cap="none" strike="noStrike">
              <a:solidFill>
                <a:schemeClr val="dk1"/>
              </a:solidFill>
              <a:latin typeface="Calibri"/>
              <a:ea typeface="Calibri"/>
              <a:cs typeface="Calibri"/>
              <a:sym typeface="Calibri"/>
            </a:endParaRPr>
          </a:p>
        </p:txBody>
      </p:sp>
      <p:sp>
        <p:nvSpPr>
          <p:cNvPr id="210" name="Google Shape;210;p23"/>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 sz="1000" u="none" cap="none" strike="noStrike">
                <a:solidFill>
                  <a:srgbClr val="8A8291"/>
                </a:solidFill>
                <a:latin typeface="Calibri"/>
                <a:ea typeface="Calibri"/>
                <a:cs typeface="Calibri"/>
                <a:sym typeface="Calibri"/>
              </a:rPr>
              <a:t>‹#›</a:t>
            </a:fld>
            <a:endParaRPr b="0" i="0" sz="1000" u="none" cap="none" strike="noStrike">
              <a:solidFill>
                <a:srgbClr val="8A829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4"/>
          <p:cNvSpPr txBox="1"/>
          <p:nvPr>
            <p:ph type="title"/>
          </p:nvPr>
        </p:nvSpPr>
        <p:spPr>
          <a:xfrm>
            <a:off x="457200" y="274320"/>
            <a:ext cx="8229600" cy="64008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2B2230"/>
              </a:buClr>
              <a:buSzPts val="3000"/>
              <a:buFont typeface="Calibri"/>
              <a:buNone/>
            </a:pPr>
            <a:r>
              <a:rPr b="1" lang="fr" sz="3000">
                <a:solidFill>
                  <a:srgbClr val="2B2230"/>
                </a:solidFill>
              </a:rPr>
              <a:t>Démonstration : parcours complet et erreurs</a:t>
            </a:r>
            <a:endParaRPr sz="3000"/>
          </a:p>
        </p:txBody>
      </p:sp>
      <p:sp>
        <p:nvSpPr>
          <p:cNvPr id="217" name="Google Shape;217;p24"/>
          <p:cNvSpPr/>
          <p:nvPr/>
        </p:nvSpPr>
        <p:spPr>
          <a:xfrm>
            <a:off x="457200" y="1188720"/>
            <a:ext cx="2560320" cy="1463040"/>
          </a:xfrm>
          <a:prstGeom prst="roundRect">
            <a:avLst>
              <a:gd fmla="val 5000"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4"/>
          <p:cNvSpPr/>
          <p:nvPr/>
        </p:nvSpPr>
        <p:spPr>
          <a:xfrm>
            <a:off x="621792" y="1353312"/>
            <a:ext cx="420624" cy="420624"/>
          </a:xfrm>
          <a:prstGeom prst="ellipse">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4"/>
          <p:cNvSpPr txBox="1"/>
          <p:nvPr/>
        </p:nvSpPr>
        <p:spPr>
          <a:xfrm>
            <a:off x="621792" y="135331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fr"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220" name="Google Shape;220;p24"/>
          <p:cNvSpPr txBox="1"/>
          <p:nvPr/>
        </p:nvSpPr>
        <p:spPr>
          <a:xfrm>
            <a:off x="1152144" y="1353312"/>
            <a:ext cx="173736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230"/>
              </a:buClr>
              <a:buSzPts val="1500"/>
              <a:buFont typeface="Calibri"/>
              <a:buNone/>
            </a:pPr>
            <a:r>
              <a:rPr b="1" i="0" lang="fr" sz="1500" u="none" cap="none" strike="noStrike">
                <a:solidFill>
                  <a:srgbClr val="2B2230"/>
                </a:solidFill>
                <a:latin typeface="Calibri"/>
                <a:ea typeface="Calibri"/>
                <a:cs typeface="Calibri"/>
                <a:sym typeface="Calibri"/>
              </a:rPr>
              <a:t>Créer un compte</a:t>
            </a:r>
            <a:endParaRPr b="0" i="0" sz="1500" u="none" cap="none" strike="noStrike">
              <a:solidFill>
                <a:schemeClr val="dk1"/>
              </a:solidFill>
              <a:latin typeface="Calibri"/>
              <a:ea typeface="Calibri"/>
              <a:cs typeface="Calibri"/>
              <a:sym typeface="Calibri"/>
            </a:endParaRPr>
          </a:p>
        </p:txBody>
      </p:sp>
      <p:sp>
        <p:nvSpPr>
          <p:cNvPr id="221" name="Google Shape;221;p24"/>
          <p:cNvSpPr txBox="1"/>
          <p:nvPr/>
        </p:nvSpPr>
        <p:spPr>
          <a:xfrm>
            <a:off x="621792" y="1920240"/>
            <a:ext cx="2231136"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0" i="0" lang="fr" sz="1300" u="none" cap="none" strike="noStrike">
                <a:solidFill>
                  <a:srgbClr val="2B2230"/>
                </a:solidFill>
                <a:latin typeface="Calibri"/>
                <a:ea typeface="Calibri"/>
                <a:cs typeface="Calibri"/>
                <a:sym typeface="Calibri"/>
              </a:rPr>
              <a:t>Erreurs de saisie affichées sous les champs</a:t>
            </a:r>
            <a:endParaRPr b="0" i="0" sz="1300" u="none" cap="none" strike="noStrike">
              <a:solidFill>
                <a:schemeClr val="dk1"/>
              </a:solidFill>
              <a:latin typeface="Calibri"/>
              <a:ea typeface="Calibri"/>
              <a:cs typeface="Calibri"/>
              <a:sym typeface="Calibri"/>
            </a:endParaRPr>
          </a:p>
        </p:txBody>
      </p:sp>
      <p:sp>
        <p:nvSpPr>
          <p:cNvPr id="222" name="Google Shape;222;p24"/>
          <p:cNvSpPr/>
          <p:nvPr/>
        </p:nvSpPr>
        <p:spPr>
          <a:xfrm>
            <a:off x="3291840" y="1188720"/>
            <a:ext cx="2560320" cy="1463040"/>
          </a:xfrm>
          <a:prstGeom prst="roundRect">
            <a:avLst>
              <a:gd fmla="val 5000"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4"/>
          <p:cNvSpPr/>
          <p:nvPr/>
        </p:nvSpPr>
        <p:spPr>
          <a:xfrm>
            <a:off x="3456432" y="1353312"/>
            <a:ext cx="420624" cy="420624"/>
          </a:xfrm>
          <a:prstGeom prst="ellipse">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4"/>
          <p:cNvSpPr txBox="1"/>
          <p:nvPr/>
        </p:nvSpPr>
        <p:spPr>
          <a:xfrm>
            <a:off x="3456432" y="135331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fr"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225" name="Google Shape;225;p24"/>
          <p:cNvSpPr txBox="1"/>
          <p:nvPr/>
        </p:nvSpPr>
        <p:spPr>
          <a:xfrm>
            <a:off x="3986784" y="1353312"/>
            <a:ext cx="173736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230"/>
              </a:buClr>
              <a:buSzPts val="1500"/>
              <a:buFont typeface="Calibri"/>
              <a:buNone/>
            </a:pPr>
            <a:r>
              <a:rPr b="1" i="0" lang="fr" sz="1500" u="none" cap="none" strike="noStrike">
                <a:solidFill>
                  <a:srgbClr val="2B2230"/>
                </a:solidFill>
                <a:latin typeface="Calibri"/>
                <a:ea typeface="Calibri"/>
                <a:cs typeface="Calibri"/>
                <a:sym typeface="Calibri"/>
              </a:rPr>
              <a:t>Déposer un fichier</a:t>
            </a:r>
            <a:endParaRPr b="0" i="0" sz="1500" u="none" cap="none" strike="noStrike">
              <a:solidFill>
                <a:schemeClr val="dk1"/>
              </a:solidFill>
              <a:latin typeface="Calibri"/>
              <a:ea typeface="Calibri"/>
              <a:cs typeface="Calibri"/>
              <a:sym typeface="Calibri"/>
            </a:endParaRPr>
          </a:p>
        </p:txBody>
      </p:sp>
      <p:sp>
        <p:nvSpPr>
          <p:cNvPr id="226" name="Google Shape;226;p24"/>
          <p:cNvSpPr txBox="1"/>
          <p:nvPr/>
        </p:nvSpPr>
        <p:spPr>
          <a:xfrm>
            <a:off x="3456432" y="1920240"/>
            <a:ext cx="2231136"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0" i="0" lang="fr" sz="1300" u="none" cap="none" strike="noStrike">
                <a:solidFill>
                  <a:srgbClr val="2B2230"/>
                </a:solidFill>
                <a:latin typeface="Calibri"/>
                <a:ea typeface="Calibri"/>
                <a:cs typeface="Calibri"/>
                <a:sym typeface="Calibri"/>
              </a:rPr>
              <a:t>Mot de passe et durée de 2 jours, lien généré</a:t>
            </a:r>
            <a:endParaRPr b="0" i="0" sz="1300" u="none" cap="none" strike="noStrike">
              <a:solidFill>
                <a:schemeClr val="dk1"/>
              </a:solidFill>
              <a:latin typeface="Calibri"/>
              <a:ea typeface="Calibri"/>
              <a:cs typeface="Calibri"/>
              <a:sym typeface="Calibri"/>
            </a:endParaRPr>
          </a:p>
        </p:txBody>
      </p:sp>
      <p:sp>
        <p:nvSpPr>
          <p:cNvPr id="227" name="Google Shape;227;p24"/>
          <p:cNvSpPr/>
          <p:nvPr/>
        </p:nvSpPr>
        <p:spPr>
          <a:xfrm>
            <a:off x="6126480" y="1188720"/>
            <a:ext cx="2560320" cy="1463040"/>
          </a:xfrm>
          <a:prstGeom prst="roundRect">
            <a:avLst>
              <a:gd fmla="val 5000"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4"/>
          <p:cNvSpPr/>
          <p:nvPr/>
        </p:nvSpPr>
        <p:spPr>
          <a:xfrm>
            <a:off x="6291072" y="1353312"/>
            <a:ext cx="420624" cy="420624"/>
          </a:xfrm>
          <a:prstGeom prst="ellipse">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4"/>
          <p:cNvSpPr txBox="1"/>
          <p:nvPr/>
        </p:nvSpPr>
        <p:spPr>
          <a:xfrm>
            <a:off x="6291072" y="135331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fr"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230" name="Google Shape;230;p24"/>
          <p:cNvSpPr txBox="1"/>
          <p:nvPr/>
        </p:nvSpPr>
        <p:spPr>
          <a:xfrm>
            <a:off x="6821424" y="1353312"/>
            <a:ext cx="173736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230"/>
              </a:buClr>
              <a:buSzPts val="1500"/>
              <a:buFont typeface="Calibri"/>
              <a:buNone/>
            </a:pPr>
            <a:r>
              <a:rPr b="1" i="0" lang="fr" sz="1500" u="none" cap="none" strike="noStrike">
                <a:solidFill>
                  <a:srgbClr val="2B2230"/>
                </a:solidFill>
                <a:latin typeface="Calibri"/>
                <a:ea typeface="Calibri"/>
                <a:cs typeface="Calibri"/>
                <a:sym typeface="Calibri"/>
              </a:rPr>
              <a:t>Télécharger par le lien</a:t>
            </a:r>
            <a:endParaRPr b="0" i="0" sz="1500" u="none" cap="none" strike="noStrike">
              <a:solidFill>
                <a:schemeClr val="dk1"/>
              </a:solidFill>
              <a:latin typeface="Calibri"/>
              <a:ea typeface="Calibri"/>
              <a:cs typeface="Calibri"/>
              <a:sym typeface="Calibri"/>
            </a:endParaRPr>
          </a:p>
        </p:txBody>
      </p:sp>
      <p:sp>
        <p:nvSpPr>
          <p:cNvPr id="231" name="Google Shape;231;p24"/>
          <p:cNvSpPr txBox="1"/>
          <p:nvPr/>
        </p:nvSpPr>
        <p:spPr>
          <a:xfrm>
            <a:off x="6291072" y="1920240"/>
            <a:ext cx="2231136"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0" i="0" lang="fr" sz="1300" u="none" cap="none" strike="noStrike">
                <a:solidFill>
                  <a:srgbClr val="2B2230"/>
                </a:solidFill>
                <a:latin typeface="Calibri"/>
                <a:ea typeface="Calibri"/>
                <a:cs typeface="Calibri"/>
                <a:sym typeface="Calibri"/>
              </a:rPr>
              <a:t>Navigation privée : mauvais puis bon mot de passe</a:t>
            </a:r>
            <a:endParaRPr b="0" i="0" sz="1300" u="none" cap="none" strike="noStrike">
              <a:solidFill>
                <a:schemeClr val="dk1"/>
              </a:solidFill>
              <a:latin typeface="Calibri"/>
              <a:ea typeface="Calibri"/>
              <a:cs typeface="Calibri"/>
              <a:sym typeface="Calibri"/>
            </a:endParaRPr>
          </a:p>
        </p:txBody>
      </p:sp>
      <p:sp>
        <p:nvSpPr>
          <p:cNvPr id="232" name="Google Shape;232;p24"/>
          <p:cNvSpPr/>
          <p:nvPr/>
        </p:nvSpPr>
        <p:spPr>
          <a:xfrm>
            <a:off x="457200" y="2880360"/>
            <a:ext cx="2560320" cy="1463040"/>
          </a:xfrm>
          <a:prstGeom prst="roundRect">
            <a:avLst>
              <a:gd fmla="val 5000"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4"/>
          <p:cNvSpPr/>
          <p:nvPr/>
        </p:nvSpPr>
        <p:spPr>
          <a:xfrm>
            <a:off x="621792" y="3044952"/>
            <a:ext cx="420624" cy="420624"/>
          </a:xfrm>
          <a:prstGeom prst="ellipse">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4"/>
          <p:cNvSpPr txBox="1"/>
          <p:nvPr/>
        </p:nvSpPr>
        <p:spPr>
          <a:xfrm>
            <a:off x="621792" y="304495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fr"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235" name="Google Shape;235;p24"/>
          <p:cNvSpPr txBox="1"/>
          <p:nvPr/>
        </p:nvSpPr>
        <p:spPr>
          <a:xfrm>
            <a:off x="1152144" y="3044952"/>
            <a:ext cx="173736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230"/>
              </a:buClr>
              <a:buSzPts val="1500"/>
              <a:buFont typeface="Calibri"/>
              <a:buNone/>
            </a:pPr>
            <a:r>
              <a:rPr b="1" i="0" lang="fr" sz="1500" u="none" cap="none" strike="noStrike">
                <a:solidFill>
                  <a:srgbClr val="2B2230"/>
                </a:solidFill>
                <a:latin typeface="Calibri"/>
                <a:ea typeface="Calibri"/>
                <a:cs typeface="Calibri"/>
                <a:sym typeface="Calibri"/>
              </a:rPr>
              <a:t>Gérer ses fichiers</a:t>
            </a:r>
            <a:endParaRPr b="0" i="0" sz="1500" u="none" cap="none" strike="noStrike">
              <a:solidFill>
                <a:schemeClr val="dk1"/>
              </a:solidFill>
              <a:latin typeface="Calibri"/>
              <a:ea typeface="Calibri"/>
              <a:cs typeface="Calibri"/>
              <a:sym typeface="Calibri"/>
            </a:endParaRPr>
          </a:p>
        </p:txBody>
      </p:sp>
      <p:sp>
        <p:nvSpPr>
          <p:cNvPr id="236" name="Google Shape;236;p24"/>
          <p:cNvSpPr txBox="1"/>
          <p:nvPr/>
        </p:nvSpPr>
        <p:spPr>
          <a:xfrm>
            <a:off x="621792" y="3611880"/>
            <a:ext cx="2231136"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0" i="0" lang="fr" sz="1300" u="none" cap="none" strike="noStrike">
                <a:solidFill>
                  <a:srgbClr val="2B2230"/>
                </a:solidFill>
                <a:latin typeface="Calibri"/>
                <a:ea typeface="Calibri"/>
                <a:cs typeface="Calibri"/>
                <a:sym typeface="Calibri"/>
              </a:rPr>
              <a:t>Filtre par état, suppression confirmée</a:t>
            </a:r>
            <a:endParaRPr b="0" i="0" sz="1300" u="none" cap="none" strike="noStrike">
              <a:solidFill>
                <a:schemeClr val="dk1"/>
              </a:solidFill>
              <a:latin typeface="Calibri"/>
              <a:ea typeface="Calibri"/>
              <a:cs typeface="Calibri"/>
              <a:sym typeface="Calibri"/>
            </a:endParaRPr>
          </a:p>
        </p:txBody>
      </p:sp>
      <p:sp>
        <p:nvSpPr>
          <p:cNvPr id="237" name="Google Shape;237;p24"/>
          <p:cNvSpPr/>
          <p:nvPr/>
        </p:nvSpPr>
        <p:spPr>
          <a:xfrm>
            <a:off x="3291840" y="2880360"/>
            <a:ext cx="2560320" cy="1463040"/>
          </a:xfrm>
          <a:prstGeom prst="roundRect">
            <a:avLst>
              <a:gd fmla="val 5000"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4"/>
          <p:cNvSpPr/>
          <p:nvPr/>
        </p:nvSpPr>
        <p:spPr>
          <a:xfrm>
            <a:off x="3456432" y="3044952"/>
            <a:ext cx="420624" cy="420624"/>
          </a:xfrm>
          <a:prstGeom prst="ellipse">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4"/>
          <p:cNvSpPr txBox="1"/>
          <p:nvPr/>
        </p:nvSpPr>
        <p:spPr>
          <a:xfrm>
            <a:off x="3456432" y="304495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fr"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240" name="Google Shape;240;p24"/>
          <p:cNvSpPr txBox="1"/>
          <p:nvPr/>
        </p:nvSpPr>
        <p:spPr>
          <a:xfrm>
            <a:off x="3986784" y="3044952"/>
            <a:ext cx="173736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230"/>
              </a:buClr>
              <a:buSzPts val="1500"/>
              <a:buFont typeface="Calibri"/>
              <a:buNone/>
            </a:pPr>
            <a:r>
              <a:rPr b="1" i="0" lang="fr" sz="1500" u="none" cap="none" strike="noStrike">
                <a:solidFill>
                  <a:srgbClr val="2B2230"/>
                </a:solidFill>
                <a:latin typeface="Calibri"/>
                <a:ea typeface="Calibri"/>
                <a:cs typeface="Calibri"/>
                <a:sym typeface="Calibri"/>
              </a:rPr>
              <a:t>Déposer sans compte</a:t>
            </a:r>
            <a:endParaRPr b="0" i="0" sz="1500" u="none" cap="none" strike="noStrike">
              <a:solidFill>
                <a:schemeClr val="dk1"/>
              </a:solidFill>
              <a:latin typeface="Calibri"/>
              <a:ea typeface="Calibri"/>
              <a:cs typeface="Calibri"/>
              <a:sym typeface="Calibri"/>
            </a:endParaRPr>
          </a:p>
        </p:txBody>
      </p:sp>
      <p:sp>
        <p:nvSpPr>
          <p:cNvPr id="241" name="Google Shape;241;p24"/>
          <p:cNvSpPr txBox="1"/>
          <p:nvPr/>
        </p:nvSpPr>
        <p:spPr>
          <a:xfrm>
            <a:off x="3456432" y="3611880"/>
            <a:ext cx="2231136"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0" i="0" lang="fr" sz="1300" u="none" cap="none" strike="noStrike">
                <a:solidFill>
                  <a:srgbClr val="2B2230"/>
                </a:solidFill>
                <a:latin typeface="Calibri"/>
                <a:ea typeface="Calibri"/>
                <a:cs typeface="Calibri"/>
                <a:sym typeface="Calibri"/>
              </a:rPr>
              <a:t>Upload anonyme, mêmes règles</a:t>
            </a:r>
            <a:endParaRPr b="0" i="0" sz="1300" u="none" cap="none" strike="noStrike">
              <a:solidFill>
                <a:schemeClr val="dk1"/>
              </a:solidFill>
              <a:latin typeface="Calibri"/>
              <a:ea typeface="Calibri"/>
              <a:cs typeface="Calibri"/>
              <a:sym typeface="Calibri"/>
            </a:endParaRPr>
          </a:p>
        </p:txBody>
      </p:sp>
      <p:sp>
        <p:nvSpPr>
          <p:cNvPr id="242" name="Google Shape;242;p24"/>
          <p:cNvSpPr/>
          <p:nvPr/>
        </p:nvSpPr>
        <p:spPr>
          <a:xfrm>
            <a:off x="6126480" y="2880360"/>
            <a:ext cx="2560320" cy="1463040"/>
          </a:xfrm>
          <a:prstGeom prst="roundRect">
            <a:avLst>
              <a:gd fmla="val 5000"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4"/>
          <p:cNvSpPr/>
          <p:nvPr/>
        </p:nvSpPr>
        <p:spPr>
          <a:xfrm>
            <a:off x="6291072" y="3044952"/>
            <a:ext cx="420624" cy="420624"/>
          </a:xfrm>
          <a:prstGeom prst="ellipse">
            <a:avLst/>
          </a:prstGeom>
          <a:solidFill>
            <a:srgbClr val="C8414B"/>
          </a:solidFill>
          <a:ln cap="flat" cmpd="sng" w="12700">
            <a:solidFill>
              <a:srgbClr val="C841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4"/>
          <p:cNvSpPr txBox="1"/>
          <p:nvPr/>
        </p:nvSpPr>
        <p:spPr>
          <a:xfrm>
            <a:off x="6291072" y="304495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fr" sz="1600" u="none" cap="none" strike="noStrike">
                <a:solidFill>
                  <a:srgbClr val="FFFFFF"/>
                </a:solidFill>
                <a:latin typeface="Calibri"/>
                <a:ea typeface="Calibri"/>
                <a:cs typeface="Calibri"/>
                <a:sym typeface="Calibri"/>
              </a:rPr>
              <a:t>6</a:t>
            </a:r>
            <a:endParaRPr b="0" i="0" sz="1600" u="none" cap="none" strike="noStrike">
              <a:solidFill>
                <a:schemeClr val="dk1"/>
              </a:solidFill>
              <a:latin typeface="Calibri"/>
              <a:ea typeface="Calibri"/>
              <a:cs typeface="Calibri"/>
              <a:sym typeface="Calibri"/>
            </a:endParaRPr>
          </a:p>
        </p:txBody>
      </p:sp>
      <p:sp>
        <p:nvSpPr>
          <p:cNvPr id="245" name="Google Shape;245;p24"/>
          <p:cNvSpPr txBox="1"/>
          <p:nvPr/>
        </p:nvSpPr>
        <p:spPr>
          <a:xfrm>
            <a:off x="6821424" y="3044952"/>
            <a:ext cx="173736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230"/>
              </a:buClr>
              <a:buSzPts val="1500"/>
              <a:buFont typeface="Calibri"/>
              <a:buNone/>
            </a:pPr>
            <a:r>
              <a:rPr b="1" i="0" lang="fr" sz="1500" u="none" cap="none" strike="noStrike">
                <a:solidFill>
                  <a:srgbClr val="2B2230"/>
                </a:solidFill>
                <a:latin typeface="Calibri"/>
                <a:ea typeface="Calibri"/>
                <a:cs typeface="Calibri"/>
                <a:sym typeface="Calibri"/>
              </a:rPr>
              <a:t>Provoquer des erreurs</a:t>
            </a:r>
            <a:endParaRPr b="0" i="0" sz="1500" u="none" cap="none" strike="noStrike">
              <a:solidFill>
                <a:schemeClr val="dk1"/>
              </a:solidFill>
              <a:latin typeface="Calibri"/>
              <a:ea typeface="Calibri"/>
              <a:cs typeface="Calibri"/>
              <a:sym typeface="Calibri"/>
            </a:endParaRPr>
          </a:p>
        </p:txBody>
      </p:sp>
      <p:sp>
        <p:nvSpPr>
          <p:cNvPr id="246" name="Google Shape;246;p24"/>
          <p:cNvSpPr txBox="1"/>
          <p:nvPr/>
        </p:nvSpPr>
        <p:spPr>
          <a:xfrm>
            <a:off x="6291072" y="3611880"/>
            <a:ext cx="2231136"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0" i="0" lang="fr" sz="1300" u="none" cap="none" strike="noStrike">
                <a:solidFill>
                  <a:srgbClr val="2B2230"/>
                </a:solidFill>
                <a:latin typeface="Calibri"/>
                <a:ea typeface="Calibri"/>
                <a:cs typeface="Calibri"/>
                <a:sym typeface="Calibri"/>
              </a:rPr>
              <a:t>Fichier .exe refusé, lien inconnu</a:t>
            </a:r>
            <a:endParaRPr b="0" i="0" sz="1300" u="none" cap="none" strike="noStrike">
              <a:solidFill>
                <a:schemeClr val="dk1"/>
              </a:solidFill>
              <a:latin typeface="Calibri"/>
              <a:ea typeface="Calibri"/>
              <a:cs typeface="Calibri"/>
              <a:sym typeface="Calibri"/>
            </a:endParaRPr>
          </a:p>
        </p:txBody>
      </p:sp>
      <p:sp>
        <p:nvSpPr>
          <p:cNvPr id="247" name="Google Shape;247;p24"/>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 sz="1000" u="none" cap="none" strike="noStrike">
                <a:solidFill>
                  <a:srgbClr val="8A8291"/>
                </a:solidFill>
                <a:latin typeface="Calibri"/>
                <a:ea typeface="Calibri"/>
                <a:cs typeface="Calibri"/>
                <a:sym typeface="Calibri"/>
              </a:rPr>
              <a:t>‹#›</a:t>
            </a:fld>
            <a:endParaRPr b="0" i="0" sz="1000" u="none" cap="none" strike="noStrike">
              <a:solidFill>
                <a:srgbClr val="8A829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5"/>
          <p:cNvSpPr txBox="1"/>
          <p:nvPr>
            <p:ph type="title"/>
          </p:nvPr>
        </p:nvSpPr>
        <p:spPr>
          <a:xfrm>
            <a:off x="457200" y="274320"/>
            <a:ext cx="8229600" cy="64008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2B2230"/>
              </a:buClr>
              <a:buSzPts val="3000"/>
              <a:buFont typeface="Calibri"/>
              <a:buNone/>
            </a:pPr>
            <a:r>
              <a:rPr b="1" lang="fr" sz="3000">
                <a:solidFill>
                  <a:srgbClr val="2B2230"/>
                </a:solidFill>
              </a:rPr>
              <a:t>La qualité est mesurée et contrôlée à chaque push</a:t>
            </a:r>
            <a:endParaRPr sz="3000"/>
          </a:p>
        </p:txBody>
      </p:sp>
      <p:sp>
        <p:nvSpPr>
          <p:cNvPr id="254" name="Google Shape;254;p25"/>
          <p:cNvSpPr/>
          <p:nvPr/>
        </p:nvSpPr>
        <p:spPr>
          <a:xfrm>
            <a:off x="457200" y="1188720"/>
            <a:ext cx="1920240" cy="1737360"/>
          </a:xfrm>
          <a:prstGeom prst="roundRect">
            <a:avLst>
              <a:gd fmla="val 4211"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5"/>
          <p:cNvSpPr txBox="1"/>
          <p:nvPr/>
        </p:nvSpPr>
        <p:spPr>
          <a:xfrm>
            <a:off x="457200" y="1325880"/>
            <a:ext cx="19202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414B"/>
              </a:buClr>
              <a:buSzPts val="3600"/>
              <a:buFont typeface="Calibri"/>
              <a:buNone/>
            </a:pPr>
            <a:r>
              <a:rPr b="1" i="0" lang="fr" sz="3600" u="none" cap="none" strike="noStrike">
                <a:solidFill>
                  <a:srgbClr val="C8414B"/>
                </a:solidFill>
                <a:latin typeface="Calibri"/>
                <a:ea typeface="Calibri"/>
                <a:cs typeface="Calibri"/>
                <a:sym typeface="Calibri"/>
              </a:rPr>
              <a:t>206</a:t>
            </a:r>
            <a:endParaRPr b="0" i="0" sz="3600" u="none" cap="none" strike="noStrike">
              <a:solidFill>
                <a:schemeClr val="dk1"/>
              </a:solidFill>
              <a:latin typeface="Calibri"/>
              <a:ea typeface="Calibri"/>
              <a:cs typeface="Calibri"/>
              <a:sym typeface="Calibri"/>
            </a:endParaRPr>
          </a:p>
        </p:txBody>
      </p:sp>
      <p:sp>
        <p:nvSpPr>
          <p:cNvPr id="256" name="Google Shape;256;p25"/>
          <p:cNvSpPr txBox="1"/>
          <p:nvPr/>
        </p:nvSpPr>
        <p:spPr>
          <a:xfrm>
            <a:off x="548640" y="2103120"/>
            <a:ext cx="173736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B2230"/>
              </a:buClr>
              <a:buSzPts val="1400"/>
              <a:buFont typeface="Calibri"/>
              <a:buNone/>
            </a:pPr>
            <a:r>
              <a:rPr b="1" i="0" lang="fr" sz="1400" u="none" cap="none" strike="noStrike">
                <a:solidFill>
                  <a:srgbClr val="2B2230"/>
                </a:solidFill>
                <a:latin typeface="Calibri"/>
                <a:ea typeface="Calibri"/>
                <a:cs typeface="Calibri"/>
                <a:sym typeface="Calibri"/>
              </a:rPr>
              <a:t>tests automatisés</a:t>
            </a:r>
            <a:endParaRPr b="0" i="0" sz="1400" u="none" cap="none" strike="noStrike">
              <a:solidFill>
                <a:schemeClr val="dk1"/>
              </a:solidFill>
              <a:latin typeface="Calibri"/>
              <a:ea typeface="Calibri"/>
              <a:cs typeface="Calibri"/>
              <a:sym typeface="Calibri"/>
            </a:endParaRPr>
          </a:p>
        </p:txBody>
      </p:sp>
      <p:sp>
        <p:nvSpPr>
          <p:cNvPr id="257" name="Google Shape;257;p25"/>
          <p:cNvSpPr txBox="1"/>
          <p:nvPr/>
        </p:nvSpPr>
        <p:spPr>
          <a:xfrm>
            <a:off x="548640" y="2450592"/>
            <a:ext cx="173736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E5566"/>
              </a:buClr>
              <a:buSzPts val="1200"/>
              <a:buFont typeface="Calibri"/>
              <a:buNone/>
            </a:pPr>
            <a:r>
              <a:rPr b="0" i="0" lang="fr" sz="1200" u="none" cap="none" strike="noStrike">
                <a:solidFill>
                  <a:srgbClr val="5E5566"/>
                </a:solidFill>
                <a:latin typeface="Calibri"/>
                <a:ea typeface="Calibri"/>
                <a:cs typeface="Calibri"/>
                <a:sym typeface="Calibri"/>
              </a:rPr>
              <a:t>+ 3 scénarios Cypress</a:t>
            </a:r>
            <a:endParaRPr b="0" i="0" sz="1200" u="none" cap="none" strike="noStrike">
              <a:solidFill>
                <a:schemeClr val="dk1"/>
              </a:solidFill>
              <a:latin typeface="Calibri"/>
              <a:ea typeface="Calibri"/>
              <a:cs typeface="Calibri"/>
              <a:sym typeface="Calibri"/>
            </a:endParaRPr>
          </a:p>
        </p:txBody>
      </p:sp>
      <p:sp>
        <p:nvSpPr>
          <p:cNvPr id="258" name="Google Shape;258;p25"/>
          <p:cNvSpPr/>
          <p:nvPr/>
        </p:nvSpPr>
        <p:spPr>
          <a:xfrm>
            <a:off x="2560320" y="1188720"/>
            <a:ext cx="1920240" cy="1737360"/>
          </a:xfrm>
          <a:prstGeom prst="roundRect">
            <a:avLst>
              <a:gd fmla="val 4211"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5"/>
          <p:cNvSpPr txBox="1"/>
          <p:nvPr/>
        </p:nvSpPr>
        <p:spPr>
          <a:xfrm>
            <a:off x="2560320" y="1325880"/>
            <a:ext cx="19202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414B"/>
              </a:buClr>
              <a:buSzPts val="3600"/>
              <a:buFont typeface="Calibri"/>
              <a:buNone/>
            </a:pPr>
            <a:r>
              <a:rPr b="1" i="0" lang="fr" sz="3600" u="none" cap="none" strike="noStrike">
                <a:solidFill>
                  <a:srgbClr val="C8414B"/>
                </a:solidFill>
                <a:latin typeface="Calibri"/>
                <a:ea typeface="Calibri"/>
                <a:cs typeface="Calibri"/>
                <a:sym typeface="Calibri"/>
              </a:rPr>
              <a:t>95,8 %</a:t>
            </a:r>
            <a:endParaRPr b="0" i="0" sz="3600" u="none" cap="none" strike="noStrike">
              <a:solidFill>
                <a:schemeClr val="dk1"/>
              </a:solidFill>
              <a:latin typeface="Calibri"/>
              <a:ea typeface="Calibri"/>
              <a:cs typeface="Calibri"/>
              <a:sym typeface="Calibri"/>
            </a:endParaRPr>
          </a:p>
        </p:txBody>
      </p:sp>
      <p:sp>
        <p:nvSpPr>
          <p:cNvPr id="260" name="Google Shape;260;p25"/>
          <p:cNvSpPr txBox="1"/>
          <p:nvPr/>
        </p:nvSpPr>
        <p:spPr>
          <a:xfrm>
            <a:off x="2651760" y="2103120"/>
            <a:ext cx="173736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B2230"/>
              </a:buClr>
              <a:buSzPts val="1400"/>
              <a:buFont typeface="Calibri"/>
              <a:buNone/>
            </a:pPr>
            <a:r>
              <a:rPr b="1" i="0" lang="fr" sz="1400" u="none" cap="none" strike="noStrike">
                <a:solidFill>
                  <a:srgbClr val="2B2230"/>
                </a:solidFill>
                <a:latin typeface="Calibri"/>
                <a:ea typeface="Calibri"/>
                <a:cs typeface="Calibri"/>
                <a:sym typeface="Calibri"/>
              </a:rPr>
              <a:t>de lignes couvertes</a:t>
            </a:r>
            <a:endParaRPr b="0" i="0" sz="1400" u="none" cap="none" strike="noStrike">
              <a:solidFill>
                <a:schemeClr val="dk1"/>
              </a:solidFill>
              <a:latin typeface="Calibri"/>
              <a:ea typeface="Calibri"/>
              <a:cs typeface="Calibri"/>
              <a:sym typeface="Calibri"/>
            </a:endParaRPr>
          </a:p>
        </p:txBody>
      </p:sp>
      <p:sp>
        <p:nvSpPr>
          <p:cNvPr id="261" name="Google Shape;261;p25"/>
          <p:cNvSpPr txBox="1"/>
          <p:nvPr/>
        </p:nvSpPr>
        <p:spPr>
          <a:xfrm>
            <a:off x="2651760" y="2450592"/>
            <a:ext cx="173736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E5566"/>
              </a:buClr>
              <a:buSzPts val="1200"/>
              <a:buFont typeface="Calibri"/>
              <a:buNone/>
            </a:pPr>
            <a:r>
              <a:rPr b="0" i="0" lang="fr" sz="1200" u="none" cap="none" strike="noStrike">
                <a:solidFill>
                  <a:srgbClr val="5E5566"/>
                </a:solidFill>
                <a:latin typeface="Calibri"/>
                <a:ea typeface="Calibri"/>
                <a:cs typeface="Calibri"/>
                <a:sym typeface="Calibri"/>
              </a:rPr>
              <a:t>seuil exigé : 70 %</a:t>
            </a:r>
            <a:endParaRPr b="0" i="0" sz="1200" u="none" cap="none" strike="noStrike">
              <a:solidFill>
                <a:schemeClr val="dk1"/>
              </a:solidFill>
              <a:latin typeface="Calibri"/>
              <a:ea typeface="Calibri"/>
              <a:cs typeface="Calibri"/>
              <a:sym typeface="Calibri"/>
            </a:endParaRPr>
          </a:p>
        </p:txBody>
      </p:sp>
      <p:sp>
        <p:nvSpPr>
          <p:cNvPr id="262" name="Google Shape;262;p25"/>
          <p:cNvSpPr/>
          <p:nvPr/>
        </p:nvSpPr>
        <p:spPr>
          <a:xfrm>
            <a:off x="4663440" y="1188720"/>
            <a:ext cx="1920240" cy="1737360"/>
          </a:xfrm>
          <a:prstGeom prst="roundRect">
            <a:avLst>
              <a:gd fmla="val 4211"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5"/>
          <p:cNvSpPr txBox="1"/>
          <p:nvPr/>
        </p:nvSpPr>
        <p:spPr>
          <a:xfrm>
            <a:off x="4663440" y="1325880"/>
            <a:ext cx="19202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414B"/>
              </a:buClr>
              <a:buSzPts val="3600"/>
              <a:buFont typeface="Calibri"/>
              <a:buNone/>
            </a:pPr>
            <a:r>
              <a:rPr b="1" i="0" lang="fr" sz="3600" u="none" cap="none" strike="noStrike">
                <a:solidFill>
                  <a:srgbClr val="C8414B"/>
                </a:solidFill>
                <a:latin typeface="Calibri"/>
                <a:ea typeface="Calibri"/>
                <a:cs typeface="Calibri"/>
                <a:sym typeface="Calibri"/>
              </a:rPr>
              <a:t>9 → 0</a:t>
            </a:r>
            <a:endParaRPr b="0" i="0" sz="3600" u="none" cap="none" strike="noStrike">
              <a:solidFill>
                <a:schemeClr val="dk1"/>
              </a:solidFill>
              <a:latin typeface="Calibri"/>
              <a:ea typeface="Calibri"/>
              <a:cs typeface="Calibri"/>
              <a:sym typeface="Calibri"/>
            </a:endParaRPr>
          </a:p>
        </p:txBody>
      </p:sp>
      <p:sp>
        <p:nvSpPr>
          <p:cNvPr id="264" name="Google Shape;264;p25"/>
          <p:cNvSpPr txBox="1"/>
          <p:nvPr/>
        </p:nvSpPr>
        <p:spPr>
          <a:xfrm>
            <a:off x="4754880" y="2103120"/>
            <a:ext cx="173736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B2230"/>
              </a:buClr>
              <a:buSzPts val="1400"/>
              <a:buFont typeface="Calibri"/>
              <a:buNone/>
            </a:pPr>
            <a:r>
              <a:rPr b="1" i="0" lang="fr" sz="1400" u="none" cap="none" strike="noStrike">
                <a:solidFill>
                  <a:srgbClr val="2B2230"/>
                </a:solidFill>
                <a:latin typeface="Calibri"/>
                <a:ea typeface="Calibri"/>
                <a:cs typeface="Calibri"/>
                <a:sym typeface="Calibri"/>
              </a:rPr>
              <a:t>vulnérabilités</a:t>
            </a:r>
            <a:endParaRPr b="0" i="0" sz="1400" u="none" cap="none" strike="noStrike">
              <a:solidFill>
                <a:schemeClr val="dk1"/>
              </a:solidFill>
              <a:latin typeface="Calibri"/>
              <a:ea typeface="Calibri"/>
              <a:cs typeface="Calibri"/>
              <a:sym typeface="Calibri"/>
            </a:endParaRPr>
          </a:p>
        </p:txBody>
      </p:sp>
      <p:sp>
        <p:nvSpPr>
          <p:cNvPr id="265" name="Google Shape;265;p25"/>
          <p:cNvSpPr txBox="1"/>
          <p:nvPr/>
        </p:nvSpPr>
        <p:spPr>
          <a:xfrm>
            <a:off x="4754880" y="2450592"/>
            <a:ext cx="173736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E5566"/>
              </a:buClr>
              <a:buSzPts val="1200"/>
              <a:buFont typeface="Calibri"/>
              <a:buNone/>
            </a:pPr>
            <a:r>
              <a:rPr b="0" i="0" lang="fr" sz="1200" u="none" cap="none" strike="noStrike">
                <a:solidFill>
                  <a:srgbClr val="5E5566"/>
                </a:solidFill>
                <a:latin typeface="Calibri"/>
                <a:ea typeface="Calibri"/>
                <a:cs typeface="Calibri"/>
                <a:sym typeface="Calibri"/>
              </a:rPr>
              <a:t>npm audit et Trivy</a:t>
            </a:r>
            <a:endParaRPr b="0" i="0" sz="1200" u="none" cap="none" strike="noStrike">
              <a:solidFill>
                <a:schemeClr val="dk1"/>
              </a:solidFill>
              <a:latin typeface="Calibri"/>
              <a:ea typeface="Calibri"/>
              <a:cs typeface="Calibri"/>
              <a:sym typeface="Calibri"/>
            </a:endParaRPr>
          </a:p>
        </p:txBody>
      </p:sp>
      <p:sp>
        <p:nvSpPr>
          <p:cNvPr id="266" name="Google Shape;266;p25"/>
          <p:cNvSpPr/>
          <p:nvPr/>
        </p:nvSpPr>
        <p:spPr>
          <a:xfrm>
            <a:off x="6766560" y="1188720"/>
            <a:ext cx="1920240" cy="1737360"/>
          </a:xfrm>
          <a:prstGeom prst="roundRect">
            <a:avLst>
              <a:gd fmla="val 4211"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5"/>
          <p:cNvSpPr txBox="1"/>
          <p:nvPr/>
        </p:nvSpPr>
        <p:spPr>
          <a:xfrm>
            <a:off x="6766560" y="1325880"/>
            <a:ext cx="19202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414B"/>
              </a:buClr>
              <a:buSzPts val="3600"/>
              <a:buFont typeface="Calibri"/>
              <a:buNone/>
            </a:pPr>
            <a:r>
              <a:rPr b="1" i="0" lang="fr" sz="3600" u="none" cap="none" strike="noStrike">
                <a:solidFill>
                  <a:srgbClr val="C8414B"/>
                </a:solidFill>
                <a:latin typeface="Calibri"/>
                <a:ea typeface="Calibri"/>
                <a:cs typeface="Calibri"/>
                <a:sym typeface="Calibri"/>
              </a:rPr>
              <a:t>0 %</a:t>
            </a:r>
            <a:endParaRPr b="0" i="0" sz="3600" u="none" cap="none" strike="noStrike">
              <a:solidFill>
                <a:schemeClr val="dk1"/>
              </a:solidFill>
              <a:latin typeface="Calibri"/>
              <a:ea typeface="Calibri"/>
              <a:cs typeface="Calibri"/>
              <a:sym typeface="Calibri"/>
            </a:endParaRPr>
          </a:p>
        </p:txBody>
      </p:sp>
      <p:sp>
        <p:nvSpPr>
          <p:cNvPr id="268" name="Google Shape;268;p25"/>
          <p:cNvSpPr txBox="1"/>
          <p:nvPr/>
        </p:nvSpPr>
        <p:spPr>
          <a:xfrm>
            <a:off x="6858000" y="2103120"/>
            <a:ext cx="173736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B2230"/>
              </a:buClr>
              <a:buSzPts val="1400"/>
              <a:buFont typeface="Calibri"/>
              <a:buNone/>
            </a:pPr>
            <a:r>
              <a:rPr b="1" i="0" lang="fr" sz="1400" u="none" cap="none" strike="noStrike">
                <a:solidFill>
                  <a:srgbClr val="2B2230"/>
                </a:solidFill>
                <a:latin typeface="Calibri"/>
                <a:ea typeface="Calibri"/>
                <a:cs typeface="Calibri"/>
                <a:sym typeface="Calibri"/>
              </a:rPr>
              <a:t>d’erreur sous charge</a:t>
            </a:r>
            <a:endParaRPr b="0" i="0" sz="1400" u="none" cap="none" strike="noStrike">
              <a:solidFill>
                <a:schemeClr val="dk1"/>
              </a:solidFill>
              <a:latin typeface="Calibri"/>
              <a:ea typeface="Calibri"/>
              <a:cs typeface="Calibri"/>
              <a:sym typeface="Calibri"/>
            </a:endParaRPr>
          </a:p>
        </p:txBody>
      </p:sp>
      <p:sp>
        <p:nvSpPr>
          <p:cNvPr id="269" name="Google Shape;269;p25"/>
          <p:cNvSpPr txBox="1"/>
          <p:nvPr/>
        </p:nvSpPr>
        <p:spPr>
          <a:xfrm>
            <a:off x="6858000" y="2450592"/>
            <a:ext cx="173736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E5566"/>
              </a:buClr>
              <a:buSzPts val="1200"/>
              <a:buFont typeface="Calibri"/>
              <a:buNone/>
            </a:pPr>
            <a:r>
              <a:rPr b="0" i="0" lang="fr" sz="1200" u="none" cap="none" strike="noStrike">
                <a:solidFill>
                  <a:srgbClr val="5E5566"/>
                </a:solidFill>
                <a:latin typeface="Calibri"/>
                <a:ea typeface="Calibri"/>
                <a:cs typeface="Calibri"/>
                <a:sym typeface="Calibri"/>
              </a:rPr>
              <a:t>k6, 4 309 requêtes</a:t>
            </a:r>
            <a:endParaRPr b="0" i="0" sz="1200" u="none" cap="none" strike="noStrike">
              <a:solidFill>
                <a:schemeClr val="dk1"/>
              </a:solidFill>
              <a:latin typeface="Calibri"/>
              <a:ea typeface="Calibri"/>
              <a:cs typeface="Calibri"/>
              <a:sym typeface="Calibri"/>
            </a:endParaRPr>
          </a:p>
        </p:txBody>
      </p:sp>
      <p:sp>
        <p:nvSpPr>
          <p:cNvPr id="270" name="Google Shape;270;p25"/>
          <p:cNvSpPr txBox="1"/>
          <p:nvPr/>
        </p:nvSpPr>
        <p:spPr>
          <a:xfrm>
            <a:off x="457200" y="3089244"/>
            <a:ext cx="82296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600"/>
              <a:buFont typeface="Calibri"/>
              <a:buNone/>
            </a:pPr>
            <a:r>
              <a:rPr b="1" i="0" lang="fr" sz="1600" u="none" cap="none" strike="noStrike">
                <a:solidFill>
                  <a:srgbClr val="2B2230"/>
                </a:solidFill>
                <a:latin typeface="Calibri"/>
                <a:ea typeface="Calibri"/>
                <a:cs typeface="Calibri"/>
                <a:sym typeface="Calibri"/>
              </a:rPr>
              <a:t>Trois moments de contrôle</a:t>
            </a:r>
            <a:endParaRPr b="0" i="0" sz="1600" u="none" cap="none" strike="noStrike">
              <a:solidFill>
                <a:schemeClr val="dk1"/>
              </a:solidFill>
              <a:latin typeface="Calibri"/>
              <a:ea typeface="Calibri"/>
              <a:cs typeface="Calibri"/>
              <a:sym typeface="Calibri"/>
            </a:endParaRPr>
          </a:p>
        </p:txBody>
      </p:sp>
      <p:sp>
        <p:nvSpPr>
          <p:cNvPr id="271" name="Google Shape;271;p25"/>
          <p:cNvSpPr/>
          <p:nvPr/>
        </p:nvSpPr>
        <p:spPr>
          <a:xfrm>
            <a:off x="457200" y="3611880"/>
            <a:ext cx="2560200" cy="1051500"/>
          </a:xfrm>
          <a:prstGeom prst="roundRect">
            <a:avLst>
              <a:gd fmla="val 6957"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5"/>
          <p:cNvSpPr txBox="1"/>
          <p:nvPr/>
        </p:nvSpPr>
        <p:spPr>
          <a:xfrm>
            <a:off x="621792" y="3739896"/>
            <a:ext cx="223113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500"/>
              <a:buFont typeface="Calibri"/>
              <a:buNone/>
            </a:pPr>
            <a:r>
              <a:rPr b="1" i="0" lang="fr" sz="1500" u="none" cap="none" strike="noStrike">
                <a:solidFill>
                  <a:srgbClr val="C8414B"/>
                </a:solidFill>
                <a:latin typeface="Calibri"/>
                <a:ea typeface="Calibri"/>
                <a:cs typeface="Calibri"/>
                <a:sym typeface="Calibri"/>
              </a:rPr>
              <a:t>Au commit</a:t>
            </a:r>
            <a:endParaRPr b="0" i="0" sz="1500" u="none" cap="none" strike="noStrike">
              <a:solidFill>
                <a:schemeClr val="dk1"/>
              </a:solidFill>
              <a:latin typeface="Calibri"/>
              <a:ea typeface="Calibri"/>
              <a:cs typeface="Calibri"/>
              <a:sym typeface="Calibri"/>
            </a:endParaRPr>
          </a:p>
        </p:txBody>
      </p:sp>
      <p:sp>
        <p:nvSpPr>
          <p:cNvPr id="273" name="Google Shape;273;p25"/>
          <p:cNvSpPr txBox="1"/>
          <p:nvPr/>
        </p:nvSpPr>
        <p:spPr>
          <a:xfrm>
            <a:off x="621792" y="4069080"/>
            <a:ext cx="2231136" cy="4846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Lint avec analyse typée, formatage</a:t>
            </a:r>
            <a:endParaRPr b="0" i="0" sz="1200" u="none" cap="none" strike="noStrike">
              <a:solidFill>
                <a:schemeClr val="dk1"/>
              </a:solidFill>
              <a:latin typeface="Calibri"/>
              <a:ea typeface="Calibri"/>
              <a:cs typeface="Calibri"/>
              <a:sym typeface="Calibri"/>
            </a:endParaRPr>
          </a:p>
        </p:txBody>
      </p:sp>
      <p:sp>
        <p:nvSpPr>
          <p:cNvPr id="274" name="Google Shape;274;p25"/>
          <p:cNvSpPr/>
          <p:nvPr/>
        </p:nvSpPr>
        <p:spPr>
          <a:xfrm>
            <a:off x="3291840" y="3611880"/>
            <a:ext cx="2560200" cy="1051500"/>
          </a:xfrm>
          <a:prstGeom prst="roundRect">
            <a:avLst>
              <a:gd fmla="val 6957"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5"/>
          <p:cNvSpPr txBox="1"/>
          <p:nvPr/>
        </p:nvSpPr>
        <p:spPr>
          <a:xfrm>
            <a:off x="3456432" y="3739896"/>
            <a:ext cx="223113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500"/>
              <a:buFont typeface="Calibri"/>
              <a:buNone/>
            </a:pPr>
            <a:r>
              <a:rPr b="1" i="0" lang="fr" sz="1500" u="none" cap="none" strike="noStrike">
                <a:solidFill>
                  <a:srgbClr val="C8414B"/>
                </a:solidFill>
                <a:latin typeface="Calibri"/>
                <a:ea typeface="Calibri"/>
                <a:cs typeface="Calibri"/>
                <a:sym typeface="Calibri"/>
              </a:rPr>
              <a:t>Au push</a:t>
            </a:r>
            <a:endParaRPr b="0" i="0" sz="1500" u="none" cap="none" strike="noStrike">
              <a:solidFill>
                <a:schemeClr val="dk1"/>
              </a:solidFill>
              <a:latin typeface="Calibri"/>
              <a:ea typeface="Calibri"/>
              <a:cs typeface="Calibri"/>
              <a:sym typeface="Calibri"/>
            </a:endParaRPr>
          </a:p>
        </p:txBody>
      </p:sp>
      <p:sp>
        <p:nvSpPr>
          <p:cNvPr id="276" name="Google Shape;276;p25"/>
          <p:cNvSpPr txBox="1"/>
          <p:nvPr/>
        </p:nvSpPr>
        <p:spPr>
          <a:xfrm>
            <a:off x="3456432" y="4069080"/>
            <a:ext cx="2231136" cy="4846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npm audit bloquant sur haute ou critique</a:t>
            </a:r>
            <a:endParaRPr b="0" i="0" sz="1200" u="none" cap="none" strike="noStrike">
              <a:solidFill>
                <a:schemeClr val="dk1"/>
              </a:solidFill>
              <a:latin typeface="Calibri"/>
              <a:ea typeface="Calibri"/>
              <a:cs typeface="Calibri"/>
              <a:sym typeface="Calibri"/>
            </a:endParaRPr>
          </a:p>
        </p:txBody>
      </p:sp>
      <p:sp>
        <p:nvSpPr>
          <p:cNvPr id="277" name="Google Shape;277;p25"/>
          <p:cNvSpPr/>
          <p:nvPr/>
        </p:nvSpPr>
        <p:spPr>
          <a:xfrm>
            <a:off x="6126480" y="3611880"/>
            <a:ext cx="2560320" cy="1051560"/>
          </a:xfrm>
          <a:prstGeom prst="roundRect">
            <a:avLst>
              <a:gd fmla="val 6957"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5"/>
          <p:cNvSpPr txBox="1"/>
          <p:nvPr/>
        </p:nvSpPr>
        <p:spPr>
          <a:xfrm>
            <a:off x="6291072" y="3739896"/>
            <a:ext cx="223113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500"/>
              <a:buFont typeface="Calibri"/>
              <a:buNone/>
            </a:pPr>
            <a:r>
              <a:rPr b="1" i="0" lang="fr" sz="1500" u="none" cap="none" strike="noStrike">
                <a:solidFill>
                  <a:srgbClr val="C8414B"/>
                </a:solidFill>
                <a:latin typeface="Calibri"/>
                <a:ea typeface="Calibri"/>
                <a:cs typeface="Calibri"/>
                <a:sym typeface="Calibri"/>
              </a:rPr>
              <a:t>Dans la CI</a:t>
            </a:r>
            <a:endParaRPr b="0" i="0" sz="1500" u="none" cap="none" strike="noStrike">
              <a:solidFill>
                <a:schemeClr val="dk1"/>
              </a:solidFill>
              <a:latin typeface="Calibri"/>
              <a:ea typeface="Calibri"/>
              <a:cs typeface="Calibri"/>
              <a:sym typeface="Calibri"/>
            </a:endParaRPr>
          </a:p>
        </p:txBody>
      </p:sp>
      <p:sp>
        <p:nvSpPr>
          <p:cNvPr id="279" name="Google Shape;279;p25"/>
          <p:cNvSpPr txBox="1"/>
          <p:nvPr/>
        </p:nvSpPr>
        <p:spPr>
          <a:xfrm>
            <a:off x="6291072" y="4069080"/>
            <a:ext cx="2231136" cy="4846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Tests, couverture, Trivy ; chaque push et chaque lundi</a:t>
            </a:r>
            <a:endParaRPr b="0" i="0" sz="1200" u="none" cap="none" strike="noStrike">
              <a:solidFill>
                <a:schemeClr val="dk1"/>
              </a:solidFill>
              <a:latin typeface="Calibri"/>
              <a:ea typeface="Calibri"/>
              <a:cs typeface="Calibri"/>
              <a:sym typeface="Calibri"/>
            </a:endParaRPr>
          </a:p>
        </p:txBody>
      </p:sp>
      <p:sp>
        <p:nvSpPr>
          <p:cNvPr id="280" name="Google Shape;280;p25"/>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 sz="1000" u="none" cap="none" strike="noStrike">
                <a:solidFill>
                  <a:srgbClr val="8A8291"/>
                </a:solidFill>
                <a:latin typeface="Calibri"/>
                <a:ea typeface="Calibri"/>
                <a:cs typeface="Calibri"/>
                <a:sym typeface="Calibri"/>
              </a:rPr>
              <a:t>‹#›</a:t>
            </a:fld>
            <a:endParaRPr b="0" i="0" sz="1000" u="none" cap="none" strike="noStrike">
              <a:solidFill>
                <a:srgbClr val="8A8291"/>
              </a:solidFill>
              <a:latin typeface="Calibri"/>
              <a:ea typeface="Calibri"/>
              <a:cs typeface="Calibri"/>
              <a:sym typeface="Calibri"/>
            </a:endParaRPr>
          </a:p>
        </p:txBody>
      </p:sp>
      <p:sp>
        <p:nvSpPr>
          <p:cNvPr id="281" name="Google Shape;281;p25"/>
          <p:cNvSpPr txBox="1"/>
          <p:nvPr/>
        </p:nvSpPr>
        <p:spPr>
          <a:xfrm>
            <a:off x="457200" y="475488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fr" sz="1100" u="none" cap="none" strike="noStrike">
                <a:solidFill>
                  <a:srgbClr val="5E5566"/>
                </a:solidFill>
                <a:latin typeface="Calibri"/>
                <a:ea typeface="Calibri"/>
                <a:cs typeface="Calibri"/>
                <a:sym typeface="Calibri"/>
              </a:rPr>
              <a:t>Rapport de tests et de couverture en ligne : </a:t>
            </a:r>
            <a:r>
              <a:rPr b="1" i="0" lang="fr" sz="1100" u="sng" cap="none" strike="noStrike">
                <a:solidFill>
                  <a:srgbClr val="C8414B"/>
                </a:solidFill>
                <a:latin typeface="Calibri"/>
                <a:ea typeface="Calibri"/>
                <a:cs typeface="Calibri"/>
                <a:sym typeface="Calibri"/>
                <a:hlinkClick r:id="rId3"/>
              </a:rPr>
              <a:t>negstek.github.io/3_pilotez_un_projet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6"/>
          <p:cNvSpPr txBox="1"/>
          <p:nvPr>
            <p:ph type="title"/>
          </p:nvPr>
        </p:nvSpPr>
        <p:spPr>
          <a:xfrm>
            <a:off x="457200" y="274320"/>
            <a:ext cx="8229600" cy="64008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2B2230"/>
              </a:buClr>
              <a:buSzPts val="3000"/>
              <a:buFont typeface="Calibri"/>
              <a:buNone/>
            </a:pPr>
            <a:r>
              <a:rPr b="1" lang="fr" sz="3000">
                <a:solidFill>
                  <a:srgbClr val="2B2230"/>
                </a:solidFill>
              </a:rPr>
              <a:t>Une documentation par public</a:t>
            </a:r>
            <a:endParaRPr sz="3000"/>
          </a:p>
        </p:txBody>
      </p:sp>
      <p:sp>
        <p:nvSpPr>
          <p:cNvPr id="288" name="Google Shape;288;p26"/>
          <p:cNvSpPr/>
          <p:nvPr/>
        </p:nvSpPr>
        <p:spPr>
          <a:xfrm>
            <a:off x="457200" y="1188720"/>
            <a:ext cx="2560320" cy="1508760"/>
          </a:xfrm>
          <a:prstGeom prst="roundRect">
            <a:avLst>
              <a:gd fmla="val 4848"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6"/>
          <p:cNvSpPr txBox="1"/>
          <p:nvPr/>
        </p:nvSpPr>
        <p:spPr>
          <a:xfrm>
            <a:off x="621792" y="1316736"/>
            <a:ext cx="2231136"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500"/>
              <a:buFont typeface="Calibri"/>
              <a:buNone/>
            </a:pPr>
            <a:r>
              <a:rPr b="1" i="0" lang="fr" sz="1500" u="none" cap="none" strike="noStrike">
                <a:solidFill>
                  <a:srgbClr val="C8414B"/>
                </a:solidFill>
                <a:latin typeface="Calibri"/>
                <a:ea typeface="Calibri"/>
                <a:cs typeface="Calibri"/>
                <a:sym typeface="Calibri"/>
              </a:rPr>
              <a:t>README</a:t>
            </a:r>
            <a:endParaRPr b="0" i="0" sz="1500" u="none" cap="none" strike="noStrike">
              <a:solidFill>
                <a:schemeClr val="dk1"/>
              </a:solidFill>
              <a:latin typeface="Calibri"/>
              <a:ea typeface="Calibri"/>
              <a:cs typeface="Calibri"/>
              <a:sym typeface="Calibri"/>
            </a:endParaRPr>
          </a:p>
        </p:txBody>
      </p:sp>
      <p:sp>
        <p:nvSpPr>
          <p:cNvPr id="290" name="Google Shape;290;p26"/>
          <p:cNvSpPr txBox="1"/>
          <p:nvPr/>
        </p:nvSpPr>
        <p:spPr>
          <a:xfrm>
            <a:off x="621792" y="1664208"/>
            <a:ext cx="223113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Installer et lancer : sh scripts/install.sh</a:t>
            </a:r>
            <a:endParaRPr b="0" i="0" sz="1200" u="none" cap="none" strike="noStrike">
              <a:solidFill>
                <a:schemeClr val="dk1"/>
              </a:solidFill>
              <a:latin typeface="Calibri"/>
              <a:ea typeface="Calibri"/>
              <a:cs typeface="Calibri"/>
              <a:sym typeface="Calibri"/>
            </a:endParaRPr>
          </a:p>
        </p:txBody>
      </p:sp>
      <p:sp>
        <p:nvSpPr>
          <p:cNvPr id="291" name="Google Shape;291;p26"/>
          <p:cNvSpPr txBox="1"/>
          <p:nvPr/>
        </p:nvSpPr>
        <p:spPr>
          <a:xfrm>
            <a:off x="621792" y="2286000"/>
            <a:ext cx="223113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5566"/>
              </a:buClr>
              <a:buSzPts val="1100"/>
              <a:buFont typeface="Calibri"/>
              <a:buNone/>
            </a:pPr>
            <a:r>
              <a:rPr b="0" i="1" lang="fr" sz="1100" u="none" cap="none" strike="noStrike">
                <a:solidFill>
                  <a:srgbClr val="5E5566"/>
                </a:solidFill>
                <a:latin typeface="Calibri"/>
                <a:ea typeface="Calibri"/>
                <a:cs typeface="Calibri"/>
                <a:sym typeface="Calibri"/>
              </a:rPr>
              <a:t>Pour : Nouveau développeur</a:t>
            </a:r>
            <a:endParaRPr b="0" i="0" sz="1100" u="none" cap="none" strike="noStrike">
              <a:solidFill>
                <a:schemeClr val="dk1"/>
              </a:solidFill>
              <a:latin typeface="Calibri"/>
              <a:ea typeface="Calibri"/>
              <a:cs typeface="Calibri"/>
              <a:sym typeface="Calibri"/>
            </a:endParaRPr>
          </a:p>
        </p:txBody>
      </p:sp>
      <p:sp>
        <p:nvSpPr>
          <p:cNvPr id="292" name="Google Shape;292;p26"/>
          <p:cNvSpPr/>
          <p:nvPr/>
        </p:nvSpPr>
        <p:spPr>
          <a:xfrm>
            <a:off x="3291840" y="1188720"/>
            <a:ext cx="2560320" cy="1508760"/>
          </a:xfrm>
          <a:prstGeom prst="roundRect">
            <a:avLst>
              <a:gd fmla="val 4848"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6"/>
          <p:cNvSpPr txBox="1"/>
          <p:nvPr/>
        </p:nvSpPr>
        <p:spPr>
          <a:xfrm>
            <a:off x="3456432" y="1316736"/>
            <a:ext cx="2231136"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500"/>
              <a:buFont typeface="Calibri"/>
              <a:buNone/>
            </a:pPr>
            <a:r>
              <a:rPr b="1" i="0" lang="fr" sz="1500" u="none" cap="none" strike="noStrike">
                <a:solidFill>
                  <a:srgbClr val="C8414B"/>
                </a:solidFill>
                <a:latin typeface="Calibri"/>
                <a:ea typeface="Calibri"/>
                <a:cs typeface="Calibri"/>
                <a:sym typeface="Calibri"/>
              </a:rPr>
              <a:t>api-contract.yaml</a:t>
            </a:r>
            <a:endParaRPr b="0" i="0" sz="1500" u="none" cap="none" strike="noStrike">
              <a:solidFill>
                <a:schemeClr val="dk1"/>
              </a:solidFill>
              <a:latin typeface="Calibri"/>
              <a:ea typeface="Calibri"/>
              <a:cs typeface="Calibri"/>
              <a:sym typeface="Calibri"/>
            </a:endParaRPr>
          </a:p>
        </p:txBody>
      </p:sp>
      <p:sp>
        <p:nvSpPr>
          <p:cNvPr id="294" name="Google Shape;294;p26"/>
          <p:cNvSpPr txBox="1"/>
          <p:nvPr/>
        </p:nvSpPr>
        <p:spPr>
          <a:xfrm>
            <a:off x="3456432" y="1664208"/>
            <a:ext cx="223113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Contrat OpenAPI 3 des huit routes</a:t>
            </a:r>
            <a:endParaRPr b="0" i="0" sz="1200" u="none" cap="none" strike="noStrike">
              <a:solidFill>
                <a:schemeClr val="dk1"/>
              </a:solidFill>
              <a:latin typeface="Calibri"/>
              <a:ea typeface="Calibri"/>
              <a:cs typeface="Calibri"/>
              <a:sym typeface="Calibri"/>
            </a:endParaRPr>
          </a:p>
        </p:txBody>
      </p:sp>
      <p:sp>
        <p:nvSpPr>
          <p:cNvPr id="295" name="Google Shape;295;p26"/>
          <p:cNvSpPr txBox="1"/>
          <p:nvPr/>
        </p:nvSpPr>
        <p:spPr>
          <a:xfrm>
            <a:off x="3456432" y="2286000"/>
            <a:ext cx="223113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5566"/>
              </a:buClr>
              <a:buSzPts val="1100"/>
              <a:buFont typeface="Calibri"/>
              <a:buNone/>
            </a:pPr>
            <a:r>
              <a:rPr b="0" i="1" lang="fr" sz="1100" u="none" cap="none" strike="noStrike">
                <a:solidFill>
                  <a:srgbClr val="5E5566"/>
                </a:solidFill>
                <a:latin typeface="Calibri"/>
                <a:ea typeface="Calibri"/>
                <a:cs typeface="Calibri"/>
                <a:sym typeface="Calibri"/>
              </a:rPr>
              <a:t>Pour : Développeur front, intégrateur</a:t>
            </a:r>
            <a:endParaRPr b="0" i="0" sz="1100" u="none" cap="none" strike="noStrike">
              <a:solidFill>
                <a:schemeClr val="dk1"/>
              </a:solidFill>
              <a:latin typeface="Calibri"/>
              <a:ea typeface="Calibri"/>
              <a:cs typeface="Calibri"/>
              <a:sym typeface="Calibri"/>
            </a:endParaRPr>
          </a:p>
        </p:txBody>
      </p:sp>
      <p:sp>
        <p:nvSpPr>
          <p:cNvPr id="296" name="Google Shape;296;p26"/>
          <p:cNvSpPr/>
          <p:nvPr/>
        </p:nvSpPr>
        <p:spPr>
          <a:xfrm>
            <a:off x="6126480" y="1188720"/>
            <a:ext cx="2560320" cy="1508760"/>
          </a:xfrm>
          <a:prstGeom prst="roundRect">
            <a:avLst>
              <a:gd fmla="val 4848"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6"/>
          <p:cNvSpPr txBox="1"/>
          <p:nvPr/>
        </p:nvSpPr>
        <p:spPr>
          <a:xfrm>
            <a:off x="6291072" y="1316736"/>
            <a:ext cx="2231136"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500"/>
              <a:buFont typeface="Calibri"/>
              <a:buNone/>
            </a:pPr>
            <a:r>
              <a:rPr b="1" i="0" lang="fr" sz="1500" u="none" cap="none" strike="noStrike">
                <a:solidFill>
                  <a:srgbClr val="C8414B"/>
                </a:solidFill>
                <a:latin typeface="Calibri"/>
                <a:ea typeface="Calibri"/>
                <a:cs typeface="Calibri"/>
                <a:sym typeface="Calibri"/>
              </a:rPr>
              <a:t>Documentation technique</a:t>
            </a:r>
            <a:endParaRPr b="0" i="0" sz="1500" u="none" cap="none" strike="noStrike">
              <a:solidFill>
                <a:schemeClr val="dk1"/>
              </a:solidFill>
              <a:latin typeface="Calibri"/>
              <a:ea typeface="Calibri"/>
              <a:cs typeface="Calibri"/>
              <a:sym typeface="Calibri"/>
            </a:endParaRPr>
          </a:p>
        </p:txBody>
      </p:sp>
      <p:sp>
        <p:nvSpPr>
          <p:cNvPr id="298" name="Google Shape;298;p26"/>
          <p:cNvSpPr txBox="1"/>
          <p:nvPr/>
        </p:nvSpPr>
        <p:spPr>
          <a:xfrm>
            <a:off x="6291072" y="1664208"/>
            <a:ext cx="223113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Les 8 sections du modèle, exportée en PDF</a:t>
            </a:r>
            <a:endParaRPr b="0" i="0" sz="1200" u="none" cap="none" strike="noStrike">
              <a:solidFill>
                <a:schemeClr val="dk1"/>
              </a:solidFill>
              <a:latin typeface="Calibri"/>
              <a:ea typeface="Calibri"/>
              <a:cs typeface="Calibri"/>
              <a:sym typeface="Calibri"/>
            </a:endParaRPr>
          </a:p>
        </p:txBody>
      </p:sp>
      <p:sp>
        <p:nvSpPr>
          <p:cNvPr id="299" name="Google Shape;299;p26"/>
          <p:cNvSpPr txBox="1"/>
          <p:nvPr/>
        </p:nvSpPr>
        <p:spPr>
          <a:xfrm>
            <a:off x="6291072" y="2286000"/>
            <a:ext cx="223113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5566"/>
              </a:buClr>
              <a:buSzPts val="1100"/>
              <a:buFont typeface="Calibri"/>
              <a:buNone/>
            </a:pPr>
            <a:r>
              <a:rPr b="0" i="1" lang="fr" sz="1100" u="none" cap="none" strike="noStrike">
                <a:solidFill>
                  <a:srgbClr val="5E5566"/>
                </a:solidFill>
                <a:latin typeface="Calibri"/>
                <a:ea typeface="Calibri"/>
                <a:cs typeface="Calibri"/>
                <a:sym typeface="Calibri"/>
              </a:rPr>
              <a:t>Pour : </a:t>
            </a:r>
            <a:r>
              <a:rPr i="1" lang="fr" sz="1100">
                <a:solidFill>
                  <a:srgbClr val="5E5566"/>
                </a:solidFill>
                <a:latin typeface="Calibri"/>
                <a:ea typeface="Calibri"/>
                <a:cs typeface="Calibri"/>
                <a:sym typeface="Calibri"/>
              </a:rPr>
              <a:t>Développeur</a:t>
            </a:r>
            <a:r>
              <a:rPr b="0" i="1" lang="fr" sz="1100" u="none" cap="none" strike="noStrike">
                <a:solidFill>
                  <a:srgbClr val="5E5566"/>
                </a:solidFill>
                <a:latin typeface="Calibri"/>
                <a:ea typeface="Calibri"/>
                <a:cs typeface="Calibri"/>
                <a:sym typeface="Calibri"/>
              </a:rPr>
              <a:t>, repreneur du projet</a:t>
            </a:r>
            <a:endParaRPr b="0" i="0" sz="1100" u="none" cap="none" strike="noStrike">
              <a:solidFill>
                <a:schemeClr val="dk1"/>
              </a:solidFill>
              <a:latin typeface="Calibri"/>
              <a:ea typeface="Calibri"/>
              <a:cs typeface="Calibri"/>
              <a:sym typeface="Calibri"/>
            </a:endParaRPr>
          </a:p>
        </p:txBody>
      </p:sp>
      <p:sp>
        <p:nvSpPr>
          <p:cNvPr id="300" name="Google Shape;300;p26"/>
          <p:cNvSpPr/>
          <p:nvPr/>
        </p:nvSpPr>
        <p:spPr>
          <a:xfrm>
            <a:off x="457200" y="2926080"/>
            <a:ext cx="2560320" cy="1508760"/>
          </a:xfrm>
          <a:prstGeom prst="roundRect">
            <a:avLst>
              <a:gd fmla="val 4848"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6"/>
          <p:cNvSpPr txBox="1"/>
          <p:nvPr/>
        </p:nvSpPr>
        <p:spPr>
          <a:xfrm>
            <a:off x="621792" y="3054096"/>
            <a:ext cx="2231136"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500"/>
              <a:buFont typeface="Calibri"/>
              <a:buNone/>
            </a:pPr>
            <a:r>
              <a:rPr b="1" i="0" lang="fr" sz="1500" u="none" cap="none" strike="noStrike">
                <a:solidFill>
                  <a:srgbClr val="C8414B"/>
                </a:solidFill>
                <a:latin typeface="Calibri"/>
                <a:ea typeface="Calibri"/>
                <a:cs typeface="Calibri"/>
                <a:sym typeface="Calibri"/>
              </a:rPr>
              <a:t>architecture.md, mcd.md</a:t>
            </a:r>
            <a:endParaRPr b="0" i="0" sz="1500" u="none" cap="none" strike="noStrike">
              <a:solidFill>
                <a:schemeClr val="dk1"/>
              </a:solidFill>
              <a:latin typeface="Calibri"/>
              <a:ea typeface="Calibri"/>
              <a:cs typeface="Calibri"/>
              <a:sym typeface="Calibri"/>
            </a:endParaRPr>
          </a:p>
        </p:txBody>
      </p:sp>
      <p:sp>
        <p:nvSpPr>
          <p:cNvPr id="302" name="Google Shape;302;p26"/>
          <p:cNvSpPr txBox="1"/>
          <p:nvPr/>
        </p:nvSpPr>
        <p:spPr>
          <a:xfrm>
            <a:off x="621792" y="3401568"/>
            <a:ext cx="223113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Schéma, modèle de données, arbitrages justifiés</a:t>
            </a:r>
            <a:endParaRPr b="0" i="0" sz="1200" u="none" cap="none" strike="noStrike">
              <a:solidFill>
                <a:schemeClr val="dk1"/>
              </a:solidFill>
              <a:latin typeface="Calibri"/>
              <a:ea typeface="Calibri"/>
              <a:cs typeface="Calibri"/>
              <a:sym typeface="Calibri"/>
            </a:endParaRPr>
          </a:p>
        </p:txBody>
      </p:sp>
      <p:sp>
        <p:nvSpPr>
          <p:cNvPr id="303" name="Google Shape;303;p26"/>
          <p:cNvSpPr txBox="1"/>
          <p:nvPr/>
        </p:nvSpPr>
        <p:spPr>
          <a:xfrm>
            <a:off x="621792" y="4023360"/>
            <a:ext cx="223113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5566"/>
              </a:buClr>
              <a:buSzPts val="1100"/>
              <a:buFont typeface="Calibri"/>
              <a:buNone/>
            </a:pPr>
            <a:r>
              <a:rPr b="0" i="1" lang="fr" sz="1100" u="none" cap="none" strike="noStrike">
                <a:solidFill>
                  <a:srgbClr val="5E5566"/>
                </a:solidFill>
                <a:latin typeface="Calibri"/>
                <a:ea typeface="Calibri"/>
                <a:cs typeface="Calibri"/>
                <a:sym typeface="Calibri"/>
              </a:rPr>
              <a:t>Pour : Mainteneur</a:t>
            </a:r>
            <a:endParaRPr b="0" i="0" sz="1100" u="none" cap="none" strike="noStrike">
              <a:solidFill>
                <a:schemeClr val="dk1"/>
              </a:solidFill>
              <a:latin typeface="Calibri"/>
              <a:ea typeface="Calibri"/>
              <a:cs typeface="Calibri"/>
              <a:sym typeface="Calibri"/>
            </a:endParaRPr>
          </a:p>
        </p:txBody>
      </p:sp>
      <p:sp>
        <p:nvSpPr>
          <p:cNvPr id="304" name="Google Shape;304;p26"/>
          <p:cNvSpPr/>
          <p:nvPr/>
        </p:nvSpPr>
        <p:spPr>
          <a:xfrm>
            <a:off x="3291840" y="2926080"/>
            <a:ext cx="2560320" cy="1508760"/>
          </a:xfrm>
          <a:prstGeom prst="roundRect">
            <a:avLst>
              <a:gd fmla="val 4848"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6"/>
          <p:cNvSpPr txBox="1"/>
          <p:nvPr/>
        </p:nvSpPr>
        <p:spPr>
          <a:xfrm>
            <a:off x="3456432" y="3054096"/>
            <a:ext cx="2231136"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500"/>
              <a:buFont typeface="Calibri"/>
              <a:buNone/>
            </a:pPr>
            <a:r>
              <a:rPr b="1" i="0" lang="fr" sz="1500" u="none" cap="none" strike="noStrike">
                <a:solidFill>
                  <a:srgbClr val="C8414B"/>
                </a:solidFill>
                <a:latin typeface="Calibri"/>
                <a:ea typeface="Calibri"/>
                <a:cs typeface="Calibri"/>
                <a:sym typeface="Calibri"/>
              </a:rPr>
              <a:t>TESTING, SECURITY, PERF</a:t>
            </a:r>
            <a:endParaRPr b="0" i="0" sz="1500" u="none" cap="none" strike="noStrike">
              <a:solidFill>
                <a:schemeClr val="dk1"/>
              </a:solidFill>
              <a:latin typeface="Calibri"/>
              <a:ea typeface="Calibri"/>
              <a:cs typeface="Calibri"/>
              <a:sym typeface="Calibri"/>
            </a:endParaRPr>
          </a:p>
        </p:txBody>
      </p:sp>
      <p:sp>
        <p:nvSpPr>
          <p:cNvPr id="306" name="Google Shape;306;p26"/>
          <p:cNvSpPr txBox="1"/>
          <p:nvPr/>
        </p:nvSpPr>
        <p:spPr>
          <a:xfrm>
            <a:off x="3456432" y="3401568"/>
            <a:ext cx="223113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Plan de tests, scans analysés, test de charge</a:t>
            </a:r>
            <a:endParaRPr b="0" i="0" sz="1200" u="none" cap="none" strike="noStrike">
              <a:solidFill>
                <a:schemeClr val="dk1"/>
              </a:solidFill>
              <a:latin typeface="Calibri"/>
              <a:ea typeface="Calibri"/>
              <a:cs typeface="Calibri"/>
              <a:sym typeface="Calibri"/>
            </a:endParaRPr>
          </a:p>
        </p:txBody>
      </p:sp>
      <p:sp>
        <p:nvSpPr>
          <p:cNvPr id="307" name="Google Shape;307;p26"/>
          <p:cNvSpPr txBox="1"/>
          <p:nvPr/>
        </p:nvSpPr>
        <p:spPr>
          <a:xfrm>
            <a:off x="3456432" y="4023360"/>
            <a:ext cx="223113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5566"/>
              </a:buClr>
              <a:buSzPts val="1100"/>
              <a:buFont typeface="Calibri"/>
              <a:buNone/>
            </a:pPr>
            <a:r>
              <a:rPr b="0" i="1" lang="fr" sz="1100" u="none" cap="none" strike="noStrike">
                <a:solidFill>
                  <a:srgbClr val="5E5566"/>
                </a:solidFill>
                <a:latin typeface="Calibri"/>
                <a:ea typeface="Calibri"/>
                <a:cs typeface="Calibri"/>
                <a:sym typeface="Calibri"/>
              </a:rPr>
              <a:t>Pour : Responsable qualité</a:t>
            </a:r>
            <a:endParaRPr b="0" i="0" sz="1100" u="none" cap="none" strike="noStrike">
              <a:solidFill>
                <a:schemeClr val="dk1"/>
              </a:solidFill>
              <a:latin typeface="Calibri"/>
              <a:ea typeface="Calibri"/>
              <a:cs typeface="Calibri"/>
              <a:sym typeface="Calibri"/>
            </a:endParaRPr>
          </a:p>
        </p:txBody>
      </p:sp>
      <p:sp>
        <p:nvSpPr>
          <p:cNvPr id="308" name="Google Shape;308;p26"/>
          <p:cNvSpPr/>
          <p:nvPr/>
        </p:nvSpPr>
        <p:spPr>
          <a:xfrm>
            <a:off x="6126480" y="2926080"/>
            <a:ext cx="2560320" cy="1508760"/>
          </a:xfrm>
          <a:prstGeom prst="roundRect">
            <a:avLst>
              <a:gd fmla="val 4848"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6"/>
          <p:cNvSpPr txBox="1"/>
          <p:nvPr/>
        </p:nvSpPr>
        <p:spPr>
          <a:xfrm>
            <a:off x="6291072" y="3054096"/>
            <a:ext cx="2231136"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500"/>
              <a:buFont typeface="Calibri"/>
              <a:buNone/>
            </a:pPr>
            <a:r>
              <a:rPr b="1" i="0" lang="fr" sz="1500" u="none" cap="none" strike="noStrike">
                <a:solidFill>
                  <a:srgbClr val="C8414B"/>
                </a:solidFill>
                <a:latin typeface="Calibri"/>
                <a:ea typeface="Calibri"/>
                <a:cs typeface="Calibri"/>
                <a:sym typeface="Calibri"/>
              </a:rPr>
              <a:t>MAINTENANCE</a:t>
            </a:r>
            <a:endParaRPr b="0" i="0" sz="1500" u="none" cap="none" strike="noStrike">
              <a:solidFill>
                <a:schemeClr val="dk1"/>
              </a:solidFill>
              <a:latin typeface="Calibri"/>
              <a:ea typeface="Calibri"/>
              <a:cs typeface="Calibri"/>
              <a:sym typeface="Calibri"/>
            </a:endParaRPr>
          </a:p>
        </p:txBody>
      </p:sp>
      <p:sp>
        <p:nvSpPr>
          <p:cNvPr id="310" name="Google Shape;310;p26"/>
          <p:cNvSpPr txBox="1"/>
          <p:nvPr/>
        </p:nvSpPr>
        <p:spPr>
          <a:xfrm>
            <a:off x="6291072" y="3401568"/>
            <a:ext cx="223113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Mises à jour : fréquence, risques, procédure</a:t>
            </a:r>
            <a:endParaRPr b="0" i="0" sz="1200" u="none" cap="none" strike="noStrike">
              <a:solidFill>
                <a:schemeClr val="dk1"/>
              </a:solidFill>
              <a:latin typeface="Calibri"/>
              <a:ea typeface="Calibri"/>
              <a:cs typeface="Calibri"/>
              <a:sym typeface="Calibri"/>
            </a:endParaRPr>
          </a:p>
        </p:txBody>
      </p:sp>
      <p:sp>
        <p:nvSpPr>
          <p:cNvPr id="311" name="Google Shape;311;p26"/>
          <p:cNvSpPr txBox="1"/>
          <p:nvPr/>
        </p:nvSpPr>
        <p:spPr>
          <a:xfrm>
            <a:off x="6291072" y="4023360"/>
            <a:ext cx="223113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5566"/>
              </a:buClr>
              <a:buSzPts val="1100"/>
              <a:buFont typeface="Calibri"/>
              <a:buNone/>
            </a:pPr>
            <a:r>
              <a:rPr b="0" i="1" lang="fr" sz="1100" u="none" cap="none" strike="noStrike">
                <a:solidFill>
                  <a:srgbClr val="5E5566"/>
                </a:solidFill>
                <a:latin typeface="Calibri"/>
                <a:ea typeface="Calibri"/>
                <a:cs typeface="Calibri"/>
                <a:sym typeface="Calibri"/>
              </a:rPr>
              <a:t>Pour : Exploitant</a:t>
            </a:r>
            <a:endParaRPr b="0" i="0" sz="1100" u="none" cap="none" strike="noStrike">
              <a:solidFill>
                <a:schemeClr val="dk1"/>
              </a:solidFill>
              <a:latin typeface="Calibri"/>
              <a:ea typeface="Calibri"/>
              <a:cs typeface="Calibri"/>
              <a:sym typeface="Calibri"/>
            </a:endParaRPr>
          </a:p>
        </p:txBody>
      </p:sp>
      <p:sp>
        <p:nvSpPr>
          <p:cNvPr id="312" name="Google Shape;312;p26"/>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 sz="1000" u="none" cap="none" strike="noStrike">
                <a:solidFill>
                  <a:srgbClr val="8A8291"/>
                </a:solidFill>
                <a:latin typeface="Calibri"/>
                <a:ea typeface="Calibri"/>
                <a:cs typeface="Calibri"/>
                <a:sym typeface="Calibri"/>
              </a:rPr>
              <a:t>‹#›</a:t>
            </a:fld>
            <a:endParaRPr b="0" i="0" sz="1000" u="none" cap="none" strike="noStrike">
              <a:solidFill>
                <a:srgbClr val="8A829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7"/>
          <p:cNvSpPr txBox="1"/>
          <p:nvPr>
            <p:ph type="title"/>
          </p:nvPr>
        </p:nvSpPr>
        <p:spPr>
          <a:xfrm>
            <a:off x="457200" y="274320"/>
            <a:ext cx="8229600" cy="64008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2B2230"/>
              </a:buClr>
              <a:buSzPts val="3000"/>
              <a:buFont typeface="Calibri"/>
              <a:buNone/>
            </a:pPr>
            <a:r>
              <a:rPr b="1" lang="fr" sz="3000">
                <a:solidFill>
                  <a:srgbClr val="2B2230"/>
                </a:solidFill>
              </a:rPr>
              <a:t>Le copilote IA produit, la relecture décide</a:t>
            </a:r>
            <a:endParaRPr sz="3000"/>
          </a:p>
        </p:txBody>
      </p:sp>
      <p:sp>
        <p:nvSpPr>
          <p:cNvPr id="319" name="Google Shape;319;p27"/>
          <p:cNvSpPr/>
          <p:nvPr/>
        </p:nvSpPr>
        <p:spPr>
          <a:xfrm>
            <a:off x="457200" y="1143000"/>
            <a:ext cx="3977640" cy="1097280"/>
          </a:xfrm>
          <a:prstGeom prst="roundRect">
            <a:avLst>
              <a:gd fmla="val 6667"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7"/>
          <p:cNvSpPr txBox="1"/>
          <p:nvPr/>
        </p:nvSpPr>
        <p:spPr>
          <a:xfrm>
            <a:off x="621792" y="1271016"/>
            <a:ext cx="364845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500"/>
              <a:buFont typeface="Calibri"/>
              <a:buNone/>
            </a:pPr>
            <a:r>
              <a:rPr b="1" i="0" lang="fr" sz="1500" u="none" cap="none" strike="noStrike">
                <a:solidFill>
                  <a:srgbClr val="C8414B"/>
                </a:solidFill>
                <a:latin typeface="Calibri"/>
                <a:ea typeface="Calibri"/>
                <a:cs typeface="Calibri"/>
                <a:sym typeface="Calibri"/>
              </a:rPr>
              <a:t>Tâche assignée (US07)</a:t>
            </a:r>
            <a:endParaRPr b="0" i="0" sz="1500" u="none" cap="none" strike="noStrike">
              <a:solidFill>
                <a:schemeClr val="dk1"/>
              </a:solidFill>
              <a:latin typeface="Calibri"/>
              <a:ea typeface="Calibri"/>
              <a:cs typeface="Calibri"/>
              <a:sym typeface="Calibri"/>
            </a:endParaRPr>
          </a:p>
        </p:txBody>
      </p:sp>
      <p:sp>
        <p:nvSpPr>
          <p:cNvPr id="321" name="Google Shape;321;p27"/>
          <p:cNvSpPr txBox="1"/>
          <p:nvPr/>
        </p:nvSpPr>
        <p:spPr>
          <a:xfrm>
            <a:off x="621792" y="1600200"/>
            <a:ext cx="3648456"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0" i="0" lang="fr" sz="1300" u="none" cap="none" strike="noStrike">
                <a:solidFill>
                  <a:srgbClr val="2B2230"/>
                </a:solidFill>
                <a:latin typeface="Calibri"/>
                <a:ea typeface="Calibri"/>
                <a:cs typeface="Calibri"/>
                <a:sym typeface="Calibri"/>
              </a:rPr>
              <a:t>Premier jet de l’IA commité tel quel, puis corrigé dans un second commit</a:t>
            </a:r>
            <a:endParaRPr b="0" i="0" sz="1300" u="none" cap="none" strike="noStrike">
              <a:solidFill>
                <a:schemeClr val="dk1"/>
              </a:solidFill>
              <a:latin typeface="Calibri"/>
              <a:ea typeface="Calibri"/>
              <a:cs typeface="Calibri"/>
              <a:sym typeface="Calibri"/>
            </a:endParaRPr>
          </a:p>
        </p:txBody>
      </p:sp>
      <p:sp>
        <p:nvSpPr>
          <p:cNvPr id="322" name="Google Shape;322;p27"/>
          <p:cNvSpPr/>
          <p:nvPr/>
        </p:nvSpPr>
        <p:spPr>
          <a:xfrm>
            <a:off x="4709160" y="1143000"/>
            <a:ext cx="3977640" cy="1097280"/>
          </a:xfrm>
          <a:prstGeom prst="roundRect">
            <a:avLst>
              <a:gd fmla="val 6667"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7"/>
          <p:cNvSpPr txBox="1"/>
          <p:nvPr/>
        </p:nvSpPr>
        <p:spPr>
          <a:xfrm>
            <a:off x="4873752" y="1271016"/>
            <a:ext cx="364845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500"/>
              <a:buFont typeface="Calibri"/>
              <a:buNone/>
            </a:pPr>
            <a:r>
              <a:rPr b="1" i="0" lang="fr" sz="1500" u="none" cap="none" strike="noStrike">
                <a:solidFill>
                  <a:srgbClr val="C8414B"/>
                </a:solidFill>
                <a:latin typeface="Calibri"/>
                <a:ea typeface="Calibri"/>
                <a:cs typeface="Calibri"/>
                <a:sym typeface="Calibri"/>
              </a:rPr>
              <a:t>Supervision de la tâche</a:t>
            </a:r>
            <a:endParaRPr b="0" i="0" sz="1500" u="none" cap="none" strike="noStrike">
              <a:solidFill>
                <a:schemeClr val="dk1"/>
              </a:solidFill>
              <a:latin typeface="Calibri"/>
              <a:ea typeface="Calibri"/>
              <a:cs typeface="Calibri"/>
              <a:sym typeface="Calibri"/>
            </a:endParaRPr>
          </a:p>
        </p:txBody>
      </p:sp>
      <p:sp>
        <p:nvSpPr>
          <p:cNvPr id="324" name="Google Shape;324;p27"/>
          <p:cNvSpPr txBox="1"/>
          <p:nvPr/>
        </p:nvSpPr>
        <p:spPr>
          <a:xfrm>
            <a:off x="4873752" y="1600200"/>
            <a:ext cx="3648456"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0" i="0" lang="fr" sz="1300" u="none" cap="none" strike="noStrike">
                <a:solidFill>
                  <a:srgbClr val="2B2230"/>
                </a:solidFill>
                <a:latin typeface="Calibri"/>
                <a:ea typeface="Calibri"/>
                <a:cs typeface="Calibri"/>
                <a:sym typeface="Calibri"/>
              </a:rPr>
              <a:t>Périmètre fixé à l’avance ; relecture face aux spécifications et au contrat d’API</a:t>
            </a:r>
            <a:endParaRPr b="0" i="0" sz="1300" u="none" cap="none" strike="noStrike">
              <a:solidFill>
                <a:schemeClr val="dk1"/>
              </a:solidFill>
              <a:latin typeface="Calibri"/>
              <a:ea typeface="Calibri"/>
              <a:cs typeface="Calibri"/>
              <a:sym typeface="Calibri"/>
            </a:endParaRPr>
          </a:p>
        </p:txBody>
      </p:sp>
      <p:sp>
        <p:nvSpPr>
          <p:cNvPr id="325" name="Google Shape;325;p27"/>
          <p:cNvSpPr/>
          <p:nvPr/>
        </p:nvSpPr>
        <p:spPr>
          <a:xfrm>
            <a:off x="457200" y="2423160"/>
            <a:ext cx="8229600" cy="960120"/>
          </a:xfrm>
          <a:prstGeom prst="roundRect">
            <a:avLst>
              <a:gd fmla="val 7619" name="adj"/>
            </a:avLst>
          </a:prstGeom>
          <a:solidFill>
            <a:srgbClr val="2B2230"/>
          </a:solidFill>
          <a:ln cap="flat" cmpd="sng" w="12700">
            <a:solidFill>
              <a:srgbClr val="2B22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7"/>
          <p:cNvSpPr txBox="1"/>
          <p:nvPr/>
        </p:nvSpPr>
        <p:spPr>
          <a:xfrm>
            <a:off x="640080" y="2514600"/>
            <a:ext cx="78638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B48A"/>
              </a:buClr>
              <a:buSzPts val="1500"/>
              <a:buFont typeface="Calibri"/>
              <a:buNone/>
            </a:pPr>
            <a:r>
              <a:rPr b="1" i="0" lang="fr" sz="1500" u="none" cap="none" strike="noStrike">
                <a:solidFill>
                  <a:srgbClr val="FFB48A"/>
                </a:solidFill>
                <a:latin typeface="Calibri"/>
                <a:ea typeface="Calibri"/>
                <a:cs typeface="Calibri"/>
                <a:sym typeface="Calibri"/>
              </a:rPr>
              <a:t>Défaut trouvé à la relecture</a:t>
            </a:r>
            <a:endParaRPr b="0" i="0" sz="1500" u="none" cap="none" strike="noStrike">
              <a:solidFill>
                <a:schemeClr val="dk1"/>
              </a:solidFill>
              <a:latin typeface="Calibri"/>
              <a:ea typeface="Calibri"/>
              <a:cs typeface="Calibri"/>
              <a:sym typeface="Calibri"/>
            </a:endParaRPr>
          </a:p>
        </p:txBody>
      </p:sp>
      <p:sp>
        <p:nvSpPr>
          <p:cNvPr id="327" name="Google Shape;327;p27"/>
          <p:cNvSpPr txBox="1"/>
          <p:nvPr/>
        </p:nvSpPr>
        <p:spPr>
          <a:xfrm>
            <a:off x="640080" y="2834640"/>
            <a:ext cx="78638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0" i="0" lang="fr" sz="1400" u="none" cap="none" strike="noStrike">
                <a:solidFill>
                  <a:srgbClr val="FFFFFF"/>
                </a:solidFill>
                <a:latin typeface="Calibri"/>
                <a:ea typeface="Calibri"/>
                <a:cs typeface="Calibri"/>
                <a:sym typeface="Calibri"/>
              </a:rPr>
              <a:t>Un token expiré ou falsifié était accepté comme un upload anonyme. Corrigé : refus en 401.</a:t>
            </a:r>
            <a:endParaRPr b="0" i="0" sz="1400" u="none" cap="none" strike="noStrike">
              <a:solidFill>
                <a:schemeClr val="dk1"/>
              </a:solidFill>
              <a:latin typeface="Calibri"/>
              <a:ea typeface="Calibri"/>
              <a:cs typeface="Calibri"/>
              <a:sym typeface="Calibri"/>
            </a:endParaRPr>
          </a:p>
        </p:txBody>
      </p:sp>
      <p:sp>
        <p:nvSpPr>
          <p:cNvPr id="328" name="Google Shape;328;p27"/>
          <p:cNvSpPr/>
          <p:nvPr/>
        </p:nvSpPr>
        <p:spPr>
          <a:xfrm>
            <a:off x="457200" y="3566160"/>
            <a:ext cx="2560320" cy="1097280"/>
          </a:xfrm>
          <a:prstGeom prst="roundRect">
            <a:avLst>
              <a:gd fmla="val 6667"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7"/>
          <p:cNvSpPr txBox="1"/>
          <p:nvPr/>
        </p:nvSpPr>
        <p:spPr>
          <a:xfrm>
            <a:off x="621792" y="3694176"/>
            <a:ext cx="223113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400"/>
              <a:buFont typeface="Calibri"/>
              <a:buNone/>
            </a:pPr>
            <a:r>
              <a:rPr b="1" i="0" lang="fr" sz="1400" u="none" cap="none" strike="noStrike">
                <a:solidFill>
                  <a:srgbClr val="C8414B"/>
                </a:solidFill>
                <a:latin typeface="Calibri"/>
                <a:ea typeface="Calibri"/>
                <a:cs typeface="Calibri"/>
                <a:sym typeface="Calibri"/>
              </a:rPr>
              <a:t>Outils surdimensionnés</a:t>
            </a:r>
            <a:endParaRPr b="0" i="0" sz="1400" u="none" cap="none" strike="noStrike">
              <a:solidFill>
                <a:schemeClr val="dk1"/>
              </a:solidFill>
              <a:latin typeface="Calibri"/>
              <a:ea typeface="Calibri"/>
              <a:cs typeface="Calibri"/>
              <a:sym typeface="Calibri"/>
            </a:endParaRPr>
          </a:p>
        </p:txBody>
      </p:sp>
      <p:sp>
        <p:nvSpPr>
          <p:cNvPr id="330" name="Google Shape;330;p27"/>
          <p:cNvSpPr txBox="1"/>
          <p:nvPr/>
        </p:nvSpPr>
        <p:spPr>
          <a:xfrm>
            <a:off x="621792" y="4023360"/>
            <a:ext cx="2231136"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Husky proposé, hooks Git natifs retenus</a:t>
            </a:r>
            <a:endParaRPr b="0" i="0" sz="1200" u="none" cap="none" strike="noStrike">
              <a:solidFill>
                <a:schemeClr val="dk1"/>
              </a:solidFill>
              <a:latin typeface="Calibri"/>
              <a:ea typeface="Calibri"/>
              <a:cs typeface="Calibri"/>
              <a:sym typeface="Calibri"/>
            </a:endParaRPr>
          </a:p>
        </p:txBody>
      </p:sp>
      <p:sp>
        <p:nvSpPr>
          <p:cNvPr id="331" name="Google Shape;331;p27"/>
          <p:cNvSpPr/>
          <p:nvPr/>
        </p:nvSpPr>
        <p:spPr>
          <a:xfrm>
            <a:off x="3291840" y="3566160"/>
            <a:ext cx="2560320" cy="1097280"/>
          </a:xfrm>
          <a:prstGeom prst="roundRect">
            <a:avLst>
              <a:gd fmla="val 6667"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7"/>
          <p:cNvSpPr txBox="1"/>
          <p:nvPr/>
        </p:nvSpPr>
        <p:spPr>
          <a:xfrm>
            <a:off x="3456432" y="3694176"/>
            <a:ext cx="223113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400"/>
              <a:buFont typeface="Calibri"/>
              <a:buNone/>
            </a:pPr>
            <a:r>
              <a:rPr b="1" i="0" lang="fr" sz="1400" u="none" cap="none" strike="noStrike">
                <a:solidFill>
                  <a:srgbClr val="C8414B"/>
                </a:solidFill>
                <a:latin typeface="Calibri"/>
                <a:ea typeface="Calibri"/>
                <a:cs typeface="Calibri"/>
                <a:sym typeface="Calibri"/>
              </a:rPr>
              <a:t>API dépréciées</a:t>
            </a:r>
            <a:endParaRPr b="0" i="0" sz="1400" u="none" cap="none" strike="noStrike">
              <a:solidFill>
                <a:schemeClr val="dk1"/>
              </a:solidFill>
              <a:latin typeface="Calibri"/>
              <a:ea typeface="Calibri"/>
              <a:cs typeface="Calibri"/>
              <a:sym typeface="Calibri"/>
            </a:endParaRPr>
          </a:p>
        </p:txBody>
      </p:sp>
      <p:sp>
        <p:nvSpPr>
          <p:cNvPr id="333" name="Google Shape;333;p27"/>
          <p:cNvSpPr txBox="1"/>
          <p:nvPr/>
        </p:nvSpPr>
        <p:spPr>
          <a:xfrm>
            <a:off x="3456432" y="4023360"/>
            <a:ext cx="2231136"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Détectées par le lint dès le commit</a:t>
            </a:r>
            <a:endParaRPr b="0" i="0" sz="1200" u="none" cap="none" strike="noStrike">
              <a:solidFill>
                <a:schemeClr val="dk1"/>
              </a:solidFill>
              <a:latin typeface="Calibri"/>
              <a:ea typeface="Calibri"/>
              <a:cs typeface="Calibri"/>
              <a:sym typeface="Calibri"/>
            </a:endParaRPr>
          </a:p>
        </p:txBody>
      </p:sp>
      <p:sp>
        <p:nvSpPr>
          <p:cNvPr id="334" name="Google Shape;334;p27"/>
          <p:cNvSpPr/>
          <p:nvPr/>
        </p:nvSpPr>
        <p:spPr>
          <a:xfrm>
            <a:off x="6126480" y="3566160"/>
            <a:ext cx="2560320" cy="1097280"/>
          </a:xfrm>
          <a:prstGeom prst="roundRect">
            <a:avLst>
              <a:gd fmla="val 6667"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7"/>
          <p:cNvSpPr txBox="1"/>
          <p:nvPr/>
        </p:nvSpPr>
        <p:spPr>
          <a:xfrm>
            <a:off x="6291072" y="3694176"/>
            <a:ext cx="2231136"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414B"/>
              </a:buClr>
              <a:buSzPts val="1400"/>
              <a:buFont typeface="Calibri"/>
              <a:buNone/>
            </a:pPr>
            <a:r>
              <a:rPr b="1" i="0" lang="fr" sz="1400" u="none" cap="none" strike="noStrike">
                <a:solidFill>
                  <a:srgbClr val="C8414B"/>
                </a:solidFill>
                <a:latin typeface="Calibri"/>
                <a:ea typeface="Calibri"/>
                <a:cs typeface="Calibri"/>
                <a:sym typeface="Calibri"/>
              </a:rPr>
              <a:t>Initiatives non demandées</a:t>
            </a:r>
            <a:endParaRPr b="0" i="0" sz="1400" u="none" cap="none" strike="noStrike">
              <a:solidFill>
                <a:schemeClr val="dk1"/>
              </a:solidFill>
              <a:latin typeface="Calibri"/>
              <a:ea typeface="Calibri"/>
              <a:cs typeface="Calibri"/>
              <a:sym typeface="Calibri"/>
            </a:endParaRPr>
          </a:p>
        </p:txBody>
      </p:sp>
      <p:sp>
        <p:nvSpPr>
          <p:cNvPr id="336" name="Google Shape;336;p27"/>
          <p:cNvSpPr txBox="1"/>
          <p:nvPr/>
        </p:nvSpPr>
        <p:spPr>
          <a:xfrm>
            <a:off x="6291072" y="4023360"/>
            <a:ext cx="2231136"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230"/>
              </a:buClr>
              <a:buSzPts val="1200"/>
              <a:buFont typeface="Calibri"/>
              <a:buNone/>
            </a:pPr>
            <a:r>
              <a:rPr b="0" i="0" lang="fr" sz="1200" u="none" cap="none" strike="noStrike">
                <a:solidFill>
                  <a:srgbClr val="2B2230"/>
                </a:solidFill>
                <a:latin typeface="Calibri"/>
                <a:ea typeface="Calibri"/>
                <a:cs typeface="Calibri"/>
                <a:sym typeface="Calibri"/>
              </a:rPr>
              <a:t>Validations imposées, journal des demandes</a:t>
            </a:r>
            <a:endParaRPr b="0" i="0" sz="1200" u="none" cap="none" strike="noStrike">
              <a:solidFill>
                <a:schemeClr val="dk1"/>
              </a:solidFill>
              <a:latin typeface="Calibri"/>
              <a:ea typeface="Calibri"/>
              <a:cs typeface="Calibri"/>
              <a:sym typeface="Calibri"/>
            </a:endParaRPr>
          </a:p>
        </p:txBody>
      </p:sp>
      <p:sp>
        <p:nvSpPr>
          <p:cNvPr id="337" name="Google Shape;337;p27"/>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 sz="1000" u="none" cap="none" strike="noStrike">
                <a:solidFill>
                  <a:srgbClr val="8A8291"/>
                </a:solidFill>
                <a:latin typeface="Calibri"/>
                <a:ea typeface="Calibri"/>
                <a:cs typeface="Calibri"/>
                <a:sym typeface="Calibri"/>
              </a:rPr>
              <a:t>‹#›</a:t>
            </a:fld>
            <a:endParaRPr b="0" i="0" sz="1000" u="none" cap="none" strike="noStrike">
              <a:solidFill>
                <a:srgbClr val="8A829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8"/>
          <p:cNvSpPr txBox="1"/>
          <p:nvPr>
            <p:ph type="title"/>
          </p:nvPr>
        </p:nvSpPr>
        <p:spPr>
          <a:xfrm>
            <a:off x="457200" y="274320"/>
            <a:ext cx="8229600" cy="64008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2B2230"/>
              </a:buClr>
              <a:buSzPts val="3000"/>
              <a:buFont typeface="Calibri"/>
              <a:buNone/>
            </a:pPr>
            <a:r>
              <a:rPr b="1" lang="fr" sz="3000">
                <a:solidFill>
                  <a:srgbClr val="2B2230"/>
                </a:solidFill>
              </a:rPr>
              <a:t>Difficultés rencontrées et suite à donner</a:t>
            </a:r>
            <a:endParaRPr sz="3000"/>
          </a:p>
        </p:txBody>
      </p:sp>
      <p:sp>
        <p:nvSpPr>
          <p:cNvPr id="344" name="Google Shape;344;p28"/>
          <p:cNvSpPr txBox="1"/>
          <p:nvPr/>
        </p:nvSpPr>
        <p:spPr>
          <a:xfrm>
            <a:off x="457200" y="1097280"/>
            <a:ext cx="24688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5566"/>
              </a:buClr>
              <a:buSzPts val="1300"/>
              <a:buFont typeface="Calibri"/>
              <a:buNone/>
            </a:pPr>
            <a:r>
              <a:rPr b="1" i="0" lang="fr" sz="1300" u="none" cap="none" strike="noStrike">
                <a:solidFill>
                  <a:srgbClr val="5E5566"/>
                </a:solidFill>
                <a:latin typeface="Calibri"/>
                <a:ea typeface="Calibri"/>
                <a:cs typeface="Calibri"/>
                <a:sym typeface="Calibri"/>
              </a:rPr>
              <a:t>Difficulté</a:t>
            </a:r>
            <a:endParaRPr b="0" i="0" sz="1300" u="none" cap="none" strike="noStrike">
              <a:solidFill>
                <a:schemeClr val="dk1"/>
              </a:solidFill>
              <a:latin typeface="Calibri"/>
              <a:ea typeface="Calibri"/>
              <a:cs typeface="Calibri"/>
              <a:sym typeface="Calibri"/>
            </a:endParaRPr>
          </a:p>
        </p:txBody>
      </p:sp>
      <p:sp>
        <p:nvSpPr>
          <p:cNvPr id="345" name="Google Shape;345;p28"/>
          <p:cNvSpPr txBox="1"/>
          <p:nvPr/>
        </p:nvSpPr>
        <p:spPr>
          <a:xfrm>
            <a:off x="3108960" y="1097280"/>
            <a:ext cx="24688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5566"/>
              </a:buClr>
              <a:buSzPts val="1300"/>
              <a:buFont typeface="Calibri"/>
              <a:buNone/>
            </a:pPr>
            <a:r>
              <a:rPr b="1" i="0" lang="fr" sz="1300" u="none" cap="none" strike="noStrike">
                <a:solidFill>
                  <a:srgbClr val="5E5566"/>
                </a:solidFill>
                <a:latin typeface="Calibri"/>
                <a:ea typeface="Calibri"/>
                <a:cs typeface="Calibri"/>
                <a:sym typeface="Calibri"/>
              </a:rPr>
              <a:t>Solution apportée</a:t>
            </a:r>
            <a:endParaRPr b="0" i="0" sz="1300" u="none" cap="none" strike="noStrike">
              <a:solidFill>
                <a:schemeClr val="dk1"/>
              </a:solidFill>
              <a:latin typeface="Calibri"/>
              <a:ea typeface="Calibri"/>
              <a:cs typeface="Calibri"/>
              <a:sym typeface="Calibri"/>
            </a:endParaRPr>
          </a:p>
        </p:txBody>
      </p:sp>
      <p:sp>
        <p:nvSpPr>
          <p:cNvPr id="346" name="Google Shape;346;p28"/>
          <p:cNvSpPr/>
          <p:nvPr/>
        </p:nvSpPr>
        <p:spPr>
          <a:xfrm>
            <a:off x="457200" y="1463040"/>
            <a:ext cx="2468880" cy="914400"/>
          </a:xfrm>
          <a:prstGeom prst="roundRect">
            <a:avLst>
              <a:gd fmla="val 8000" name="adj"/>
            </a:avLst>
          </a:prstGeom>
          <a:solidFill>
            <a:srgbClr val="E5E4E7"/>
          </a:solidFill>
          <a:ln cap="flat" cmpd="sng" w="12700">
            <a:solidFill>
              <a:srgbClr val="E5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8"/>
          <p:cNvSpPr txBox="1"/>
          <p:nvPr/>
        </p:nvSpPr>
        <p:spPr>
          <a:xfrm>
            <a:off x="594360" y="1463040"/>
            <a:ext cx="21945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1" i="0" lang="fr" sz="1300" u="none" cap="none" strike="noStrike">
                <a:solidFill>
                  <a:srgbClr val="2B2230"/>
                </a:solidFill>
                <a:latin typeface="Calibri"/>
                <a:ea typeface="Calibri"/>
                <a:cs typeface="Calibri"/>
                <a:sym typeface="Calibri"/>
              </a:rPr>
              <a:t>Accepter 1 Go sans saturer la mémoire</a:t>
            </a:r>
            <a:endParaRPr b="0" i="0" sz="1300" u="none" cap="none" strike="noStrike">
              <a:solidFill>
                <a:schemeClr val="dk1"/>
              </a:solidFill>
              <a:latin typeface="Calibri"/>
              <a:ea typeface="Calibri"/>
              <a:cs typeface="Calibri"/>
              <a:sym typeface="Calibri"/>
            </a:endParaRPr>
          </a:p>
        </p:txBody>
      </p:sp>
      <p:cxnSp>
        <p:nvCxnSpPr>
          <p:cNvPr id="348" name="Google Shape;348;p28"/>
          <p:cNvCxnSpPr/>
          <p:nvPr/>
        </p:nvCxnSpPr>
        <p:spPr>
          <a:xfrm>
            <a:off x="2944368" y="1920240"/>
            <a:ext cx="146304" cy="0"/>
          </a:xfrm>
          <a:prstGeom prst="straightConnector1">
            <a:avLst/>
          </a:prstGeom>
          <a:noFill/>
          <a:ln cap="flat" cmpd="sng" w="19050">
            <a:solidFill>
              <a:srgbClr val="8A8291"/>
            </a:solidFill>
            <a:prstDash val="solid"/>
            <a:round/>
            <a:headEnd len="sm" w="sm" type="none"/>
            <a:tailEnd len="med" w="med" type="triangle"/>
          </a:ln>
        </p:spPr>
      </p:cxnSp>
      <p:sp>
        <p:nvSpPr>
          <p:cNvPr id="349" name="Google Shape;349;p28"/>
          <p:cNvSpPr/>
          <p:nvPr/>
        </p:nvSpPr>
        <p:spPr>
          <a:xfrm>
            <a:off x="3108960" y="1463040"/>
            <a:ext cx="2468880" cy="914400"/>
          </a:xfrm>
          <a:prstGeom prst="roundRect">
            <a:avLst>
              <a:gd fmla="val 8000"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8"/>
          <p:cNvSpPr txBox="1"/>
          <p:nvPr/>
        </p:nvSpPr>
        <p:spPr>
          <a:xfrm>
            <a:off x="3246120" y="1463040"/>
            <a:ext cx="21945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0" i="0" lang="fr" sz="1300" u="none" cap="none" strike="noStrike">
                <a:solidFill>
                  <a:srgbClr val="2B2230"/>
                </a:solidFill>
                <a:latin typeface="Calibri"/>
                <a:ea typeface="Calibri"/>
                <a:cs typeface="Calibri"/>
                <a:sym typeface="Calibri"/>
              </a:rPr>
              <a:t>Réception et envoi en flux ; mémoire bornée vérifiée par k6</a:t>
            </a:r>
            <a:endParaRPr b="0" i="0" sz="1300" u="none" cap="none" strike="noStrike">
              <a:solidFill>
                <a:schemeClr val="dk1"/>
              </a:solidFill>
              <a:latin typeface="Calibri"/>
              <a:ea typeface="Calibri"/>
              <a:cs typeface="Calibri"/>
              <a:sym typeface="Calibri"/>
            </a:endParaRPr>
          </a:p>
        </p:txBody>
      </p:sp>
      <p:sp>
        <p:nvSpPr>
          <p:cNvPr id="351" name="Google Shape;351;p28"/>
          <p:cNvSpPr/>
          <p:nvPr/>
        </p:nvSpPr>
        <p:spPr>
          <a:xfrm>
            <a:off x="457200" y="2542032"/>
            <a:ext cx="2468880" cy="914400"/>
          </a:xfrm>
          <a:prstGeom prst="roundRect">
            <a:avLst>
              <a:gd fmla="val 8000" name="adj"/>
            </a:avLst>
          </a:prstGeom>
          <a:solidFill>
            <a:srgbClr val="E5E4E7"/>
          </a:solidFill>
          <a:ln cap="flat" cmpd="sng" w="12700">
            <a:solidFill>
              <a:srgbClr val="E5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8"/>
          <p:cNvSpPr txBox="1"/>
          <p:nvPr/>
        </p:nvSpPr>
        <p:spPr>
          <a:xfrm>
            <a:off x="594360" y="2542032"/>
            <a:ext cx="21945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1" i="0" lang="fr" sz="1300" u="none" cap="none" strike="noStrike">
                <a:solidFill>
                  <a:srgbClr val="2B2230"/>
                </a:solidFill>
                <a:latin typeface="Calibri"/>
                <a:ea typeface="Calibri"/>
                <a:cs typeface="Calibri"/>
                <a:sym typeface="Calibri"/>
              </a:rPr>
              <a:t>9 vulnérabilités dès l’installation</a:t>
            </a:r>
            <a:endParaRPr b="0" i="0" sz="1300" u="none" cap="none" strike="noStrike">
              <a:solidFill>
                <a:schemeClr val="dk1"/>
              </a:solidFill>
              <a:latin typeface="Calibri"/>
              <a:ea typeface="Calibri"/>
              <a:cs typeface="Calibri"/>
              <a:sym typeface="Calibri"/>
            </a:endParaRPr>
          </a:p>
        </p:txBody>
      </p:sp>
      <p:cxnSp>
        <p:nvCxnSpPr>
          <p:cNvPr id="353" name="Google Shape;353;p28"/>
          <p:cNvCxnSpPr/>
          <p:nvPr/>
        </p:nvCxnSpPr>
        <p:spPr>
          <a:xfrm>
            <a:off x="2944368" y="2999232"/>
            <a:ext cx="146304" cy="0"/>
          </a:xfrm>
          <a:prstGeom prst="straightConnector1">
            <a:avLst/>
          </a:prstGeom>
          <a:noFill/>
          <a:ln cap="flat" cmpd="sng" w="19050">
            <a:solidFill>
              <a:srgbClr val="8A8291"/>
            </a:solidFill>
            <a:prstDash val="solid"/>
            <a:round/>
            <a:headEnd len="sm" w="sm" type="none"/>
            <a:tailEnd len="med" w="med" type="triangle"/>
          </a:ln>
        </p:spPr>
      </p:cxnSp>
      <p:sp>
        <p:nvSpPr>
          <p:cNvPr id="354" name="Google Shape;354;p28"/>
          <p:cNvSpPr/>
          <p:nvPr/>
        </p:nvSpPr>
        <p:spPr>
          <a:xfrm>
            <a:off x="3108960" y="2542032"/>
            <a:ext cx="2468880" cy="914400"/>
          </a:xfrm>
          <a:prstGeom prst="roundRect">
            <a:avLst>
              <a:gd fmla="val 8000"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8"/>
          <p:cNvSpPr txBox="1"/>
          <p:nvPr/>
        </p:nvSpPr>
        <p:spPr>
          <a:xfrm>
            <a:off x="3246120" y="2542032"/>
            <a:ext cx="21945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0" i="0" lang="fr" sz="1300" u="none" cap="none" strike="noStrike">
                <a:solidFill>
                  <a:srgbClr val="2B2230"/>
                </a:solidFill>
                <a:latin typeface="Calibri"/>
                <a:ea typeface="Calibri"/>
                <a:cs typeface="Calibri"/>
                <a:sym typeface="Calibri"/>
              </a:rPr>
              <a:t>Dépendance inutile supprimée, overrides ciblés</a:t>
            </a:r>
            <a:endParaRPr b="0" i="0" sz="1300" u="none" cap="none" strike="noStrike">
              <a:solidFill>
                <a:schemeClr val="dk1"/>
              </a:solidFill>
              <a:latin typeface="Calibri"/>
              <a:ea typeface="Calibri"/>
              <a:cs typeface="Calibri"/>
              <a:sym typeface="Calibri"/>
            </a:endParaRPr>
          </a:p>
        </p:txBody>
      </p:sp>
      <p:sp>
        <p:nvSpPr>
          <p:cNvPr id="356" name="Google Shape;356;p28"/>
          <p:cNvSpPr/>
          <p:nvPr/>
        </p:nvSpPr>
        <p:spPr>
          <a:xfrm>
            <a:off x="457200" y="3621024"/>
            <a:ext cx="2468880" cy="914400"/>
          </a:xfrm>
          <a:prstGeom prst="roundRect">
            <a:avLst>
              <a:gd fmla="val 8000" name="adj"/>
            </a:avLst>
          </a:prstGeom>
          <a:solidFill>
            <a:srgbClr val="E5E4E7"/>
          </a:solidFill>
          <a:ln cap="flat" cmpd="sng" w="12700">
            <a:solidFill>
              <a:srgbClr val="E5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8"/>
          <p:cNvSpPr txBox="1"/>
          <p:nvPr/>
        </p:nvSpPr>
        <p:spPr>
          <a:xfrm>
            <a:off x="594360" y="3621024"/>
            <a:ext cx="21945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1" i="0" lang="fr" sz="1300" u="none" cap="none" strike="noStrike">
                <a:solidFill>
                  <a:srgbClr val="2B2230"/>
                </a:solidFill>
                <a:latin typeface="Calibri"/>
                <a:ea typeface="Calibri"/>
                <a:cs typeface="Calibri"/>
                <a:sym typeface="Calibri"/>
              </a:rPr>
              <a:t>Garder la maîtrise face à l’IA</a:t>
            </a:r>
            <a:endParaRPr b="0" i="0" sz="1300" u="none" cap="none" strike="noStrike">
              <a:solidFill>
                <a:schemeClr val="dk1"/>
              </a:solidFill>
              <a:latin typeface="Calibri"/>
              <a:ea typeface="Calibri"/>
              <a:cs typeface="Calibri"/>
              <a:sym typeface="Calibri"/>
            </a:endParaRPr>
          </a:p>
        </p:txBody>
      </p:sp>
      <p:cxnSp>
        <p:nvCxnSpPr>
          <p:cNvPr id="358" name="Google Shape;358;p28"/>
          <p:cNvCxnSpPr/>
          <p:nvPr/>
        </p:nvCxnSpPr>
        <p:spPr>
          <a:xfrm>
            <a:off x="2944368" y="4078224"/>
            <a:ext cx="146304" cy="0"/>
          </a:xfrm>
          <a:prstGeom prst="straightConnector1">
            <a:avLst/>
          </a:prstGeom>
          <a:noFill/>
          <a:ln cap="flat" cmpd="sng" w="19050">
            <a:solidFill>
              <a:srgbClr val="8A8291"/>
            </a:solidFill>
            <a:prstDash val="solid"/>
            <a:round/>
            <a:headEnd len="sm" w="sm" type="none"/>
            <a:tailEnd len="med" w="med" type="triangle"/>
          </a:ln>
        </p:spPr>
      </p:cxnSp>
      <p:sp>
        <p:nvSpPr>
          <p:cNvPr id="359" name="Google Shape;359;p28"/>
          <p:cNvSpPr/>
          <p:nvPr/>
        </p:nvSpPr>
        <p:spPr>
          <a:xfrm>
            <a:off x="3108960" y="3621024"/>
            <a:ext cx="2468880" cy="914400"/>
          </a:xfrm>
          <a:prstGeom prst="roundRect">
            <a:avLst>
              <a:gd fmla="val 8000" name="adj"/>
            </a:avLst>
          </a:prstGeom>
          <a:solidFill>
            <a:srgbClr val="FDF0E8"/>
          </a:solidFill>
          <a:ln cap="flat" cmpd="sng" w="12700">
            <a:solidFill>
              <a:srgbClr val="FDF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8"/>
          <p:cNvSpPr txBox="1"/>
          <p:nvPr/>
        </p:nvSpPr>
        <p:spPr>
          <a:xfrm>
            <a:off x="3246120" y="3621024"/>
            <a:ext cx="21945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230"/>
              </a:buClr>
              <a:buSzPts val="1300"/>
              <a:buFont typeface="Calibri"/>
              <a:buNone/>
            </a:pPr>
            <a:r>
              <a:rPr b="0" i="0" lang="fr" sz="1300" u="none" cap="none" strike="noStrike">
                <a:solidFill>
                  <a:srgbClr val="2B2230"/>
                </a:solidFill>
                <a:latin typeface="Calibri"/>
                <a:ea typeface="Calibri"/>
                <a:cs typeface="Calibri"/>
                <a:sym typeface="Calibri"/>
              </a:rPr>
              <a:t>Validations imposées, hooks Git et CI</a:t>
            </a:r>
            <a:endParaRPr b="0" i="0" sz="1300" u="none" cap="none" strike="noStrike">
              <a:solidFill>
                <a:schemeClr val="dk1"/>
              </a:solidFill>
              <a:latin typeface="Calibri"/>
              <a:ea typeface="Calibri"/>
              <a:cs typeface="Calibri"/>
              <a:sym typeface="Calibri"/>
            </a:endParaRPr>
          </a:p>
        </p:txBody>
      </p:sp>
      <p:sp>
        <p:nvSpPr>
          <p:cNvPr id="361" name="Google Shape;361;p28"/>
          <p:cNvSpPr/>
          <p:nvPr/>
        </p:nvSpPr>
        <p:spPr>
          <a:xfrm>
            <a:off x="5852160" y="1097280"/>
            <a:ext cx="2834640" cy="3438144"/>
          </a:xfrm>
          <a:prstGeom prst="roundRect">
            <a:avLst>
              <a:gd fmla="val 2581" name="adj"/>
            </a:avLst>
          </a:prstGeom>
          <a:solidFill>
            <a:srgbClr val="2B2230"/>
          </a:solidFill>
          <a:ln cap="flat" cmpd="sng" w="12700">
            <a:solidFill>
              <a:srgbClr val="2B22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8"/>
          <p:cNvSpPr txBox="1"/>
          <p:nvPr/>
        </p:nvSpPr>
        <p:spPr>
          <a:xfrm>
            <a:off x="6035040" y="1234440"/>
            <a:ext cx="24688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B48A"/>
              </a:buClr>
              <a:buSzPts val="1600"/>
              <a:buFont typeface="Calibri"/>
              <a:buNone/>
            </a:pPr>
            <a:r>
              <a:rPr b="1" i="0" lang="fr" sz="1600" u="none" cap="none" strike="noStrike">
                <a:solidFill>
                  <a:srgbClr val="FFB48A"/>
                </a:solidFill>
                <a:latin typeface="Calibri"/>
                <a:ea typeface="Calibri"/>
                <a:cs typeface="Calibri"/>
                <a:sym typeface="Calibri"/>
              </a:rPr>
              <a:t>Suite à donner</a:t>
            </a:r>
            <a:endParaRPr b="0" i="0" sz="1600" u="none" cap="none" strike="noStrike">
              <a:solidFill>
                <a:schemeClr val="dk1"/>
              </a:solidFill>
              <a:latin typeface="Calibri"/>
              <a:ea typeface="Calibri"/>
              <a:cs typeface="Calibri"/>
              <a:sym typeface="Calibri"/>
            </a:endParaRPr>
          </a:p>
        </p:txBody>
      </p:sp>
      <p:sp>
        <p:nvSpPr>
          <p:cNvPr id="363" name="Google Shape;363;p28"/>
          <p:cNvSpPr txBox="1"/>
          <p:nvPr/>
        </p:nvSpPr>
        <p:spPr>
          <a:xfrm>
            <a:off x="6035040" y="1691640"/>
            <a:ext cx="2468880" cy="26517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FFFFF"/>
              </a:buClr>
              <a:buSzPts val="1400"/>
              <a:buFont typeface="Calibri"/>
              <a:buAutoNum type="arabicPeriod"/>
            </a:pPr>
            <a:r>
              <a:rPr b="0" i="0" lang="fr" sz="1400" u="none" cap="none" strike="noStrike">
                <a:solidFill>
                  <a:srgbClr val="FFFFFF"/>
                </a:solidFill>
                <a:latin typeface="Calibri"/>
                <a:ea typeface="Calibri"/>
                <a:cs typeface="Calibri"/>
                <a:sym typeface="Calibri"/>
              </a:rPr>
              <a:t>Purge quotidienne des fichiers expirés</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400"/>
              <a:buFont typeface="Calibri"/>
              <a:buAutoNum type="arabicPeriod"/>
            </a:pPr>
            <a:r>
              <a:rPr b="0" i="0" lang="fr" sz="1400" u="none" cap="none" strike="noStrike">
                <a:solidFill>
                  <a:srgbClr val="FFFFFF"/>
                </a:solidFill>
                <a:latin typeface="Calibri"/>
                <a:ea typeface="Calibri"/>
                <a:cs typeface="Calibri"/>
                <a:sym typeface="Calibri"/>
              </a:rPr>
              <a:t>Limitation de débit sur l’upload et la connexion</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400"/>
              <a:buFont typeface="Calibri"/>
              <a:buAutoNum type="arabicPeriod"/>
            </a:pPr>
            <a:r>
              <a:rPr b="0" i="0" lang="fr" sz="1400" u="none" cap="none" strike="noStrike">
                <a:solidFill>
                  <a:srgbClr val="FFFFFF"/>
                </a:solidFill>
                <a:latin typeface="Calibri"/>
                <a:ea typeface="Calibri"/>
                <a:cs typeface="Calibri"/>
                <a:sym typeface="Calibri"/>
              </a:rPr>
              <a:t>Déploiement : reverse proxy, API conteneurisée</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400"/>
              <a:buFont typeface="Calibri"/>
              <a:buAutoNum type="arabicPeriod"/>
            </a:pPr>
            <a:r>
              <a:rPr b="0" i="0" lang="fr" sz="1400" u="none" cap="none" strike="noStrike">
                <a:solidFill>
                  <a:srgbClr val="FFFFFF"/>
                </a:solidFill>
                <a:latin typeface="Calibri"/>
                <a:ea typeface="Calibri"/>
                <a:cs typeface="Calibri"/>
                <a:sym typeface="Calibri"/>
              </a:rPr>
              <a:t>Tags (US08)</a:t>
            </a:r>
            <a:endParaRPr b="0" i="0" sz="1400" u="none" cap="none" strike="noStrike">
              <a:solidFill>
                <a:schemeClr val="dk1"/>
              </a:solidFill>
              <a:latin typeface="Calibri"/>
              <a:ea typeface="Calibri"/>
              <a:cs typeface="Calibri"/>
              <a:sym typeface="Calibri"/>
            </a:endParaRPr>
          </a:p>
        </p:txBody>
      </p:sp>
      <p:sp>
        <p:nvSpPr>
          <p:cNvPr id="364" name="Google Shape;364;p28"/>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 sz="1000" u="none" cap="none" strike="noStrike">
                <a:solidFill>
                  <a:srgbClr val="8A8291"/>
                </a:solidFill>
                <a:latin typeface="Calibri"/>
                <a:ea typeface="Calibri"/>
                <a:cs typeface="Calibri"/>
                <a:sym typeface="Calibri"/>
              </a:rPr>
              <a:t>‹#›</a:t>
            </a:fld>
            <a:endParaRPr b="0" i="0" sz="1000" u="none" cap="none" strike="noStrike">
              <a:solidFill>
                <a:srgbClr val="8A829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9"/>
          <p:cNvSpPr txBox="1"/>
          <p:nvPr>
            <p:ph type="title"/>
          </p:nvPr>
        </p:nvSpPr>
        <p:spPr>
          <a:xfrm>
            <a:off x="640080" y="1554480"/>
            <a:ext cx="7863840" cy="100584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FFFFFF"/>
              </a:buClr>
              <a:buSzPts val="5400"/>
              <a:buFont typeface="Calibri"/>
              <a:buNone/>
            </a:pPr>
            <a:r>
              <a:rPr b="1" lang="fr" sz="5400">
                <a:solidFill>
                  <a:srgbClr val="FFFFFF"/>
                </a:solidFill>
              </a:rPr>
              <a:t>Merci</a:t>
            </a:r>
            <a:endParaRPr sz="5400"/>
          </a:p>
        </p:txBody>
      </p:sp>
      <p:sp>
        <p:nvSpPr>
          <p:cNvPr id="371" name="Google Shape;371;p29"/>
          <p:cNvSpPr txBox="1"/>
          <p:nvPr>
            <p:ph idx="1" type="body"/>
          </p:nvPr>
        </p:nvSpPr>
        <p:spPr>
          <a:xfrm>
            <a:off x="640080" y="2651760"/>
            <a:ext cx="7863840" cy="146304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B48A"/>
              </a:buClr>
              <a:buSzPts val="2000"/>
              <a:buNone/>
            </a:pPr>
            <a:r>
              <a:rPr lang="fr"/>
              <a:t>Des</a:t>
            </a:r>
            <a:r>
              <a:rPr lang="fr" sz="2000">
                <a:solidFill>
                  <a:srgbClr val="FFB48A"/>
                </a:solidFill>
              </a:rPr>
              <a:t> questions ?</a:t>
            </a:r>
            <a:endParaRPr sz="2000"/>
          </a:p>
          <a:p>
            <a:pPr indent="0" lvl="0" marL="0" rtl="0" algn="l">
              <a:spcBef>
                <a:spcPts val="280"/>
              </a:spcBef>
              <a:spcAft>
                <a:spcPts val="0"/>
              </a:spcAft>
              <a:buClr>
                <a:srgbClr val="FFFFFF"/>
              </a:buClr>
              <a:buSzPts val="1400"/>
              <a:buNone/>
            </a:pPr>
            <a:r>
              <a:rPr lang="fr" sz="1400">
                <a:solidFill>
                  <a:srgbClr val="FFFFFF"/>
                </a:solidFill>
              </a:rPr>
              <a:t>Dépôt : github.com/negstek/3_pilotez_un_projet</a:t>
            </a:r>
            <a:endParaRPr sz="2000"/>
          </a:p>
          <a:p>
            <a:pPr indent="0" lvl="0" marL="0" rtl="0" algn="l">
              <a:spcBef>
                <a:spcPts val="280"/>
              </a:spcBef>
              <a:spcAft>
                <a:spcPts val="0"/>
              </a:spcAft>
              <a:buClr>
                <a:srgbClr val="FFFFFF"/>
              </a:buClr>
              <a:buSzPts val="1400"/>
              <a:buNone/>
            </a:pPr>
            <a:r>
              <a:rPr lang="fr" sz="1400">
                <a:solidFill>
                  <a:srgbClr val="FFFFFF"/>
                </a:solidFill>
              </a:rPr>
              <a:t>Rapport de tests : negstek.github.io/3_pilotez_un_projet/</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DataShare">
  <a:themeElements>
    <a:clrScheme name="DataShare">
      <a:dk1>
        <a:srgbClr val="2B2230"/>
      </a:dk1>
      <a:lt1>
        <a:srgbClr val="FFFFFF"/>
      </a:lt1>
      <a:dk2>
        <a:srgbClr val="5E5566"/>
      </a:dk2>
      <a:lt2>
        <a:srgbClr val="FDF0E8"/>
      </a:lt2>
      <a:accent1>
        <a:srgbClr val="C8414B"/>
      </a:accent1>
      <a:accent2>
        <a:srgbClr val="E3783C"/>
      </a:accent2>
      <a:accent3>
        <a:srgbClr val="2B2230"/>
      </a:accent3>
      <a:accent4>
        <a:srgbClr val="FFB48A"/>
      </a:accent4>
      <a:accent5>
        <a:srgbClr val="8A8291"/>
      </a:accent5>
      <a:accent6>
        <a:srgbClr val="E5E4E7"/>
      </a:accent6>
      <a:hlink>
        <a:srgbClr val="C8414B"/>
      </a:hlink>
      <a:folHlink>
        <a:srgbClr val="8A8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